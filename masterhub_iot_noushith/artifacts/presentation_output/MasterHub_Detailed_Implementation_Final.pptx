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739344a8584608" /><Relationship Type="http://schemas.openxmlformats.org/officeDocument/2006/relationships/extended-properties" Target="/docProps/app.xml" Id="R9bd0f1f4a5e34c00" /><Relationship Type="http://schemas.openxmlformats.org/officeDocument/2006/relationships/officeDocument" Target="/ppt/presentation.xml" Id="Rd55c24f5e57e4b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deae09d9fa4161"/>
    <p:sldMasterId xmlns:r="http://schemas.openxmlformats.org/officeDocument/2006/relationships" id="2147483650" r:id="Red3a4a4859a544e2"/>
    <p:sldMasterId xmlns:r="http://schemas.openxmlformats.org/officeDocument/2006/relationships" id="2147483652" r:id="R981b6bc8ae3a4c16"/>
  </p:sldMasterIdLst>
  <p:notesMasterIdLst>
    <p:notesMasterId xmlns:r="http://schemas.openxmlformats.org/officeDocument/2006/relationships" r:id="Rf3eaf3b3ee6a4e53"/>
  </p:notesMasterIdLst>
  <p:sldIdLst>
    <p:sldId xmlns:r="http://schemas.openxmlformats.org/officeDocument/2006/relationships" id="256" r:id="R08130a4b3b904b6b"/>
    <p:sldId xmlns:r="http://schemas.openxmlformats.org/officeDocument/2006/relationships" id="257" r:id="R99ddc987fe864bda"/>
    <p:sldId xmlns:r="http://schemas.openxmlformats.org/officeDocument/2006/relationships" id="258" r:id="R9af064d0e8924b81"/>
    <p:sldId xmlns:r="http://schemas.openxmlformats.org/officeDocument/2006/relationships" id="259" r:id="R8a0333e911b241ea"/>
    <p:sldId xmlns:r="http://schemas.openxmlformats.org/officeDocument/2006/relationships" id="260" r:id="R64e18b2b9edb4ea9"/>
    <p:sldId xmlns:r="http://schemas.openxmlformats.org/officeDocument/2006/relationships" id="261" r:id="Rbb419559d0974787"/>
    <p:sldId xmlns:r="http://schemas.openxmlformats.org/officeDocument/2006/relationships" id="262" r:id="R3ab6815f01454374"/>
    <p:sldId xmlns:r="http://schemas.openxmlformats.org/officeDocument/2006/relationships" id="263" r:id="Rc390c4ab1ab24d6b"/>
    <p:sldId xmlns:r="http://schemas.openxmlformats.org/officeDocument/2006/relationships" id="264" r:id="R4a1dfe4ab62a481b"/>
    <p:sldId xmlns:r="http://schemas.openxmlformats.org/officeDocument/2006/relationships" id="265" r:id="Rb7dd076e221a4256"/>
    <p:sldId xmlns:r="http://schemas.openxmlformats.org/officeDocument/2006/relationships" id="266" r:id="R212378088f364644"/>
    <p:sldId xmlns:r="http://schemas.openxmlformats.org/officeDocument/2006/relationships" id="267" r:id="Red2528a3f3db4d74"/>
    <p:sldId xmlns:r="http://schemas.openxmlformats.org/officeDocument/2006/relationships" id="268" r:id="R654ec4eb07d14b8a"/>
    <p:sldId xmlns:r="http://schemas.openxmlformats.org/officeDocument/2006/relationships" id="269" r:id="R4ab0ce87d10d471d"/>
    <p:sldId xmlns:r="http://schemas.openxmlformats.org/officeDocument/2006/relationships" id="270" r:id="R6b7835e809914244"/>
    <p:sldId xmlns:r="http://schemas.openxmlformats.org/officeDocument/2006/relationships" id="271" r:id="R0fad3ef6bbb84b88"/>
    <p:sldId xmlns:r="http://schemas.openxmlformats.org/officeDocument/2006/relationships" id="272" r:id="R1cf59e124446475d"/>
    <p:sldId xmlns:r="http://schemas.openxmlformats.org/officeDocument/2006/relationships" id="273" r:id="R5d23d267b4b4492b"/>
    <p:sldId xmlns:r="http://schemas.openxmlformats.org/officeDocument/2006/relationships" id="274" r:id="R32818423f0ef4750"/>
    <p:sldId xmlns:r="http://schemas.openxmlformats.org/officeDocument/2006/relationships" id="275" r:id="R7200fff70a9841ef"/>
    <p:sldId xmlns:r="http://schemas.openxmlformats.org/officeDocument/2006/relationships" id="276" r:id="R2decac611c68497b"/>
    <p:sldId xmlns:r="http://schemas.openxmlformats.org/officeDocument/2006/relationships" id="277" r:id="Ra68f5db7a3544802"/>
    <p:sldId xmlns:r="http://schemas.openxmlformats.org/officeDocument/2006/relationships" id="278" r:id="Rf1ae5a26268744b2"/>
    <p:sldId xmlns:r="http://schemas.openxmlformats.org/officeDocument/2006/relationships" id="279" r:id="Ra9f4cbdad1c94bda"/>
    <p:sldId xmlns:r="http://schemas.openxmlformats.org/officeDocument/2006/relationships" id="280" r:id="R6b3e27f4e2664dc1"/>
    <p:sldId xmlns:r="http://schemas.openxmlformats.org/officeDocument/2006/relationships" id="281" r:id="R4dd9c3957a4747ca"/>
    <p:sldId xmlns:r="http://schemas.openxmlformats.org/officeDocument/2006/relationships" id="282" r:id="R3d62e28551ca4b5e"/>
    <p:sldId xmlns:r="http://schemas.openxmlformats.org/officeDocument/2006/relationships" id="283" r:id="Rc4142a27679d4db1"/>
    <p:sldId xmlns:r="http://schemas.openxmlformats.org/officeDocument/2006/relationships" id="284" r:id="R86f9c94210604c9d"/>
    <p:sldId xmlns:r="http://schemas.openxmlformats.org/officeDocument/2006/relationships" id="285" r:id="R984bb74b75474bab"/>
    <p:sldId xmlns:r="http://schemas.openxmlformats.org/officeDocument/2006/relationships" id="286" r:id="R856d3b49c86d4541"/>
    <p:sldId xmlns:r="http://schemas.openxmlformats.org/officeDocument/2006/relationships" id="287" r:id="R3032b3980c6e4805"/>
    <p:sldId xmlns:r="http://schemas.openxmlformats.org/officeDocument/2006/relationships" id="288" r:id="R4af51f47a7c649a7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97418cbbd149a2" /><Relationship Type="http://schemas.openxmlformats.org/officeDocument/2006/relationships/slideMaster" Target="/ppt/slideMasters/slideMaster1.xml" Id="R13deae09d9fa4161" /><Relationship Type="http://schemas.openxmlformats.org/officeDocument/2006/relationships/slideMaster" Target="/ppt/slideMasters/slideMaster2.xml" Id="Red3a4a4859a544e2" /><Relationship Type="http://schemas.openxmlformats.org/officeDocument/2006/relationships/slideMaster" Target="/ppt/slideMasters/slideMaster3.xml" Id="R981b6bc8ae3a4c16" /><Relationship Type="http://schemas.openxmlformats.org/officeDocument/2006/relationships/notesMaster" Target="/ppt/notesMasters/notesMaster1.xml" Id="Rf3eaf3b3ee6a4e53" /><Relationship Type="http://schemas.openxmlformats.org/officeDocument/2006/relationships/presProps" Target="/ppt/presProps.xml" Id="Re34d0ffc53894913" /><Relationship Type="http://schemas.openxmlformats.org/officeDocument/2006/relationships/viewProps" Target="/ppt/viewProps.xml" Id="Rf15ba220623e4c90" /><Relationship Type="http://schemas.openxmlformats.org/officeDocument/2006/relationships/tableStyles" Target="/ppt/tableStyles.xml" Id="R0488feb7d8f1410a" /><Relationship Type="http://schemas.openxmlformats.org/officeDocument/2006/relationships/slide" Target="/ppt/slides/slide1.xml" Id="R08130a4b3b904b6b" /><Relationship Type="http://schemas.openxmlformats.org/officeDocument/2006/relationships/slide" Target="/ppt/slides/slide2.xml" Id="R99ddc987fe864bda" /><Relationship Type="http://schemas.openxmlformats.org/officeDocument/2006/relationships/slide" Target="/ppt/slides/slide3.xml" Id="R9af064d0e8924b81" /><Relationship Type="http://schemas.openxmlformats.org/officeDocument/2006/relationships/slide" Target="/ppt/slides/slide4.xml" Id="R8a0333e911b241ea" /><Relationship Type="http://schemas.openxmlformats.org/officeDocument/2006/relationships/slide" Target="/ppt/slides/slide5.xml" Id="R64e18b2b9edb4ea9" /><Relationship Type="http://schemas.openxmlformats.org/officeDocument/2006/relationships/slide" Target="/ppt/slides/slide6.xml" Id="Rbb419559d0974787" /><Relationship Type="http://schemas.openxmlformats.org/officeDocument/2006/relationships/slide" Target="/ppt/slides/slide7.xml" Id="R3ab6815f01454374" /><Relationship Type="http://schemas.openxmlformats.org/officeDocument/2006/relationships/slide" Target="/ppt/slides/slide8.xml" Id="Rc390c4ab1ab24d6b" /><Relationship Type="http://schemas.openxmlformats.org/officeDocument/2006/relationships/slide" Target="/ppt/slides/slide9.xml" Id="R4a1dfe4ab62a481b" /><Relationship Type="http://schemas.openxmlformats.org/officeDocument/2006/relationships/slide" Target="/ppt/slides/slide10.xml" Id="Rb7dd076e221a4256" /><Relationship Type="http://schemas.openxmlformats.org/officeDocument/2006/relationships/slide" Target="/ppt/slides/slide11.xml" Id="R212378088f364644" /><Relationship Type="http://schemas.openxmlformats.org/officeDocument/2006/relationships/slide" Target="/ppt/slides/slide12.xml" Id="Red2528a3f3db4d74" /><Relationship Type="http://schemas.openxmlformats.org/officeDocument/2006/relationships/slide" Target="/ppt/slides/slide13.xml" Id="R654ec4eb07d14b8a" /><Relationship Type="http://schemas.openxmlformats.org/officeDocument/2006/relationships/slide" Target="/ppt/slides/slide14.xml" Id="R4ab0ce87d10d471d" /><Relationship Type="http://schemas.openxmlformats.org/officeDocument/2006/relationships/slide" Target="/ppt/slides/slide15.xml" Id="R6b7835e809914244" /><Relationship Type="http://schemas.openxmlformats.org/officeDocument/2006/relationships/slide" Target="/ppt/slides/slide16.xml" Id="R0fad3ef6bbb84b88" /><Relationship Type="http://schemas.openxmlformats.org/officeDocument/2006/relationships/slide" Target="/ppt/slides/slide17.xml" Id="R1cf59e124446475d" /><Relationship Type="http://schemas.openxmlformats.org/officeDocument/2006/relationships/slide" Target="/ppt/slides/slide18.xml" Id="R5d23d267b4b4492b" /><Relationship Type="http://schemas.openxmlformats.org/officeDocument/2006/relationships/slide" Target="/ppt/slides/slide19.xml" Id="R32818423f0ef4750" /><Relationship Type="http://schemas.openxmlformats.org/officeDocument/2006/relationships/slide" Target="/ppt/slides/slide20.xml" Id="R7200fff70a9841ef" /><Relationship Type="http://schemas.openxmlformats.org/officeDocument/2006/relationships/slide" Target="/ppt/slides/slide21.xml" Id="R2decac611c68497b" /><Relationship Type="http://schemas.openxmlformats.org/officeDocument/2006/relationships/slide" Target="/ppt/slides/slide22.xml" Id="Ra68f5db7a3544802" /><Relationship Type="http://schemas.openxmlformats.org/officeDocument/2006/relationships/slide" Target="/ppt/slides/slide23.xml" Id="Rf1ae5a26268744b2" /><Relationship Type="http://schemas.openxmlformats.org/officeDocument/2006/relationships/slide" Target="/ppt/slides/slide24.xml" Id="Ra9f4cbdad1c94bda" /><Relationship Type="http://schemas.openxmlformats.org/officeDocument/2006/relationships/slide" Target="/ppt/slides/slide25.xml" Id="R6b3e27f4e2664dc1" /><Relationship Type="http://schemas.openxmlformats.org/officeDocument/2006/relationships/slide" Target="/ppt/slides/slide26.xml" Id="R4dd9c3957a4747ca" /><Relationship Type="http://schemas.openxmlformats.org/officeDocument/2006/relationships/slide" Target="/ppt/slides/slide27.xml" Id="R3d62e28551ca4b5e" /><Relationship Type="http://schemas.openxmlformats.org/officeDocument/2006/relationships/slide" Target="/ppt/slides/slide28.xml" Id="Rc4142a27679d4db1" /><Relationship Type="http://schemas.openxmlformats.org/officeDocument/2006/relationships/slide" Target="/ppt/slides/slide29.xml" Id="R86f9c94210604c9d" /><Relationship Type="http://schemas.openxmlformats.org/officeDocument/2006/relationships/slide" Target="/ppt/slides/slide30.xml" Id="R984bb74b75474bab" /><Relationship Type="http://schemas.openxmlformats.org/officeDocument/2006/relationships/slide" Target="/ppt/slides/slide31.xml" Id="R856d3b49c86d4541" /><Relationship Type="http://schemas.openxmlformats.org/officeDocument/2006/relationships/slide" Target="/ppt/slides/slide32.xml" Id="R3032b3980c6e4805" /><Relationship Type="http://schemas.openxmlformats.org/officeDocument/2006/relationships/slide" Target="/ppt/slides/slide33.xml" Id="R4af51f47a7c649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44470e6cddd44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1_Office Theme">
  <a:themeElements>
    <a:clrScheme name="HITAM1">
      <a:dk1>
        <a:srgbClr val="262626"/>
      </a:dk1>
      <a:lt1>
        <a:srgbClr val="FFFFFF"/>
      </a:lt1>
      <a:dk2>
        <a:srgbClr val="1F497D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3eb11206dd4f1a" /><Relationship Type="http://schemas.openxmlformats.org/officeDocument/2006/relationships/notesMaster" Target="/ppt/notesMasters/notesMaster1.xml" Id="Rd60ff099c02643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5f3524c48a4b3e" /><Relationship Type="http://schemas.openxmlformats.org/officeDocument/2006/relationships/notesMaster" Target="/ppt/notesMasters/notesMaster1.xml" Id="R00a2d83890064d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44d35af4b8494b" /><Relationship Type="http://schemas.openxmlformats.org/officeDocument/2006/relationships/notesMaster" Target="/ppt/notesMasters/notesMaster1.xml" Id="Rd4b583a5f21a42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3a3c36cb214cdb" /><Relationship Type="http://schemas.openxmlformats.org/officeDocument/2006/relationships/notesMaster" Target="/ppt/notesMasters/notesMaster1.xml" Id="R168909cb021445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442ad3dc414ceb" /><Relationship Type="http://schemas.openxmlformats.org/officeDocument/2006/relationships/notesMaster" Target="/ppt/notesMasters/notesMaster1.xml" Id="R3c7c8c8820b74d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8c520f04804519" /><Relationship Type="http://schemas.openxmlformats.org/officeDocument/2006/relationships/notesMaster" Target="/ppt/notesMasters/notesMaster1.xml" Id="Re5c104094e654d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d67758f4a84fb2" /><Relationship Type="http://schemas.openxmlformats.org/officeDocument/2006/relationships/notesMaster" Target="/ppt/notesMasters/notesMaster1.xml" Id="R3fc21d0f192c48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1f0dfd177b4e8c" /><Relationship Type="http://schemas.openxmlformats.org/officeDocument/2006/relationships/notesMaster" Target="/ppt/notesMasters/notesMaster1.xml" Id="R20efaa85451f45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6ae43216014a0c" /><Relationship Type="http://schemas.openxmlformats.org/officeDocument/2006/relationships/notesMaster" Target="/ppt/notesMasters/notesMaster1.xml" Id="R45adb8b419b947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666a60d2564344" /><Relationship Type="http://schemas.openxmlformats.org/officeDocument/2006/relationships/notesMaster" Target="/ppt/notesMasters/notesMaster1.xml" Id="R5b1b4f60ecd946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32aa85e3ed4f71" /><Relationship Type="http://schemas.openxmlformats.org/officeDocument/2006/relationships/notesMaster" Target="/ppt/notesMasters/notesMaster1.xml" Id="Rd232ac5d789249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699b77e3ff4605" /><Relationship Type="http://schemas.openxmlformats.org/officeDocument/2006/relationships/notesMaster" Target="/ppt/notesMasters/notesMaster1.xml" Id="R9246155a45c84c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95d1779567a4f04" /><Relationship Type="http://schemas.openxmlformats.org/officeDocument/2006/relationships/notesMaster" Target="/ppt/notesMasters/notesMaster1.xml" Id="Rcce31782c9a04d2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ac404e62a3449f" /><Relationship Type="http://schemas.openxmlformats.org/officeDocument/2006/relationships/notesMaster" Target="/ppt/notesMasters/notesMaster1.xml" Id="R5cb3998f049244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47f158716674bca" /><Relationship Type="http://schemas.openxmlformats.org/officeDocument/2006/relationships/notesMaster" Target="/ppt/notesMasters/notesMaster1.xml" Id="R59370dc965c646c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96652e9b7045c5" /><Relationship Type="http://schemas.openxmlformats.org/officeDocument/2006/relationships/notesMaster" Target="/ppt/notesMasters/notesMaster1.xml" Id="R9eab650ffa1e45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b3d2817b674817" /><Relationship Type="http://schemas.openxmlformats.org/officeDocument/2006/relationships/notesMaster" Target="/ppt/notesMasters/notesMaster1.xml" Id="R27792278e4f840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d0e3fca1fe47ca" /><Relationship Type="http://schemas.openxmlformats.org/officeDocument/2006/relationships/notesMaster" Target="/ppt/notesMasters/notesMaster1.xml" Id="R503388d45cd0494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2ace66a4484de2" /><Relationship Type="http://schemas.openxmlformats.org/officeDocument/2006/relationships/notesMaster" Target="/ppt/notesMasters/notesMaster1.xml" Id="Rc3b7440943d746f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cc47143df8f4621" /><Relationship Type="http://schemas.openxmlformats.org/officeDocument/2006/relationships/notesMaster" Target="/ppt/notesMasters/notesMaster1.xml" Id="R8350a543a9ed4f7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d4e794835014a03" /><Relationship Type="http://schemas.openxmlformats.org/officeDocument/2006/relationships/notesMaster" Target="/ppt/notesMasters/notesMaster1.xml" Id="R4356f8fdf61e494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070188943f04c5d" /><Relationship Type="http://schemas.openxmlformats.org/officeDocument/2006/relationships/notesMaster" Target="/ppt/notesMasters/notesMaster1.xml" Id="R9a97f6029d54454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a5bd91c68b34d5a" /><Relationship Type="http://schemas.openxmlformats.org/officeDocument/2006/relationships/notesMaster" Target="/ppt/notesMasters/notesMaster1.xml" Id="R81c6312540ba48b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1fdeb35bb954279" /><Relationship Type="http://schemas.openxmlformats.org/officeDocument/2006/relationships/notesMaster" Target="/ppt/notesMasters/notesMaster1.xml" Id="R38259e3ed14b43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355d255f4819489a" /><Relationship Type="http://schemas.openxmlformats.org/officeDocument/2006/relationships/notesMaster" Target="/ppt/notesMasters/notesMaster1.xml" Id="Rd8e82fc8568e482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31200ed8f394ace" /><Relationship Type="http://schemas.openxmlformats.org/officeDocument/2006/relationships/notesMaster" Target="/ppt/notesMasters/notesMaster1.xml" Id="R53418130f3dc41e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1724e3d59b84930" /><Relationship Type="http://schemas.openxmlformats.org/officeDocument/2006/relationships/notesMaster" Target="/ppt/notesMasters/notesMaster1.xml" Id="Rfc77b7d3cf25449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05500bcc3fe4d4e" /><Relationship Type="http://schemas.openxmlformats.org/officeDocument/2006/relationships/notesMaster" Target="/ppt/notesMasters/notesMaster1.xml" Id="R2b603409f4b44a2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d57cd79b92545cf" /><Relationship Type="http://schemas.openxmlformats.org/officeDocument/2006/relationships/notesMaster" Target="/ppt/notesMasters/notesMaster1.xml" Id="R2aad9e1609e84fd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760e6fb9ff64289" /><Relationship Type="http://schemas.openxmlformats.org/officeDocument/2006/relationships/notesMaster" Target="/ppt/notesMasters/notesMaster1.xml" Id="Rf06be890bc1343a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1d66d0d7a554f3b" /><Relationship Type="http://schemas.openxmlformats.org/officeDocument/2006/relationships/notesMaster" Target="/ppt/notesMasters/notesMaster1.xml" Id="R13957075cf334de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7c39eb21b0894970" /><Relationship Type="http://schemas.openxmlformats.org/officeDocument/2006/relationships/notesMaster" Target="/ppt/notesMasters/notesMaster1.xml" Id="R6c356ac07cea4b7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157630d1fe64b41" /><Relationship Type="http://schemas.openxmlformats.org/officeDocument/2006/relationships/notesMaster" Target="/ppt/notesMasters/notesMaster1.xml" Id="R1ac4916e277b46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Original cover artwork and presenter identity preserved from noushith_IOT_ppt.pptx. Current implementation as of 26 September 2026.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slides 3, 7–9; mappings/*.json;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mappings/mode_map.json; command_map.json; workflow_map.json; iot_map.json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app.py; core/engine.py; core/router.py; services/; actions/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templates/dashboard.html; static/masterhub.js; current screenshot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mappings/workflow_map.json; services/workflow_service.py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static/masterhub.js; cortex/control.py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mappings/workflow_map.json; actions/desktop/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dashboard screenshot; core/devices.py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Current dashboard screenshot; mappings/workflow_map.json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slides 7, 9, 10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Original PPT slide 10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mappings/iot_map.json; actions/iot/handler.py; services/mqtt_service.py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actions/embedded/handler.py; mappings/embedded_map.json; services/workflow_service.py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mappings/workflow_map.json; actions/media_jiosaavn_mobile.py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services/mobile_mqtt_service.py; api/jiosaavn.py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cortex/service.py; cortex/auth.py; cortex/session.py; cortex/profile.py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templates/bci_panel.html; current screenshot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cortex/control.py; simulator/config.py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cortex/control.py; templates/bci_panel.html; static/bci-panel.js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core/devices.py; services/usb_service.py; artifacts/start_agent.py;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templates/dashboard.html; current screenshot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core/metrics.py; services/manual_logger_service.py; services/bci_logger_service.py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api/routes.py; api/jiosaavn.py; cortex/dashboard.py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cortex/control.py; static/masterhub.js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tests/test_cortex_control.py; tests/; simulator/README.md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services/; cortex/; actions/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</a:t>
            </a:r>
          </a:p>
          <a:p xmlns:a="http://schemas.openxmlformats.org/drawingml/2006/main">
            <a:r>
              <a:t>Repository snapshot: 26 September 2026. Implementation describes code and mappings. Screenshots show the current local application, with external hardware disconnected.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f3a60ba7e4bd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001217a2202402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759930e77704758" /></Relationships>
</file>

<file path=ppt/slideLayouts/slideLayout1.xml><?xml version="1.0" encoding="utf-8"?>
<p:sldLayout xmlns:p="http://schemas.openxmlformats.org/presentationml/2006/main" matchingName="Title Slid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83" name="Google Shape;19;p6">
            <a:extLst xmlns:a="http://schemas.openxmlformats.org/drawingml/2006/main">
              <a:ext uri="{FF2B5EF4-FFF2-40B4-BE49-F238E27FC236}">
                <a16:creationId xmlns:a16="http://schemas.microsoft.com/office/drawing/2014/main" id="{FCD860B2-280D-4F2E-8331-11AC9CE7A1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D8D8D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48584" name="Google Shape;20;p6">
            <a:extLst xmlns:a="http://schemas.openxmlformats.org/drawingml/2006/main">
              <a:ext uri="{FF2B5EF4-FFF2-40B4-BE49-F238E27FC236}">
                <a16:creationId xmlns:a16="http://schemas.microsoft.com/office/drawing/2014/main" id="{BE269B60-7EF7-41CC-8EF9-8102022F29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48597" name="Google Shape;36;p10">
            <a:extLst xmlns:a="http://schemas.openxmlformats.org/drawingml/2006/main">
              <a:ext uri="{FF2B5EF4-FFF2-40B4-BE49-F238E27FC236}">
                <a16:creationId xmlns:a16="http://schemas.microsoft.com/office/drawing/2014/main" id="{4A9ECFE5-465D-4734-A046-2DBEDE0BBF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33375" y="152400"/>
            <a:ext cx="822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 b="1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wo Content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c106eed2c0b14c14" /><Relationship Type="http://schemas.openxmlformats.org/officeDocument/2006/relationships/theme" Target="/ppt/slideMasters/theme/theme2.xml" Id="R8cb8620fc3464d1f" /><Relationship Type="http://schemas.openxmlformats.org/officeDocument/2006/relationships/slideLayout" Target="/ppt/slideLayouts/slideLayout1.xml" Id="Ra00ce5ea41774d7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2.jpeg" Id="R6c825bcd4366436b" /><Relationship Type="http://schemas.openxmlformats.org/officeDocument/2006/relationships/theme" Target="/ppt/slideMasters/theme/theme3.xml" Id="Rd2c738750fab4568" /><Relationship Type="http://schemas.openxmlformats.org/officeDocument/2006/relationships/slideLayout" Target="/ppt/slideLayouts/slideLayout2.xml" Id="Rd5df75dae8f241a1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image" Target="/ppt/media/image3.jpeg" Id="R639d6b82d96e4ecd" /><Relationship Type="http://schemas.openxmlformats.org/officeDocument/2006/relationships/theme" Target="/ppt/slideMasters/theme/theme4.xml" Id="R5cae74ad2bd44593" /><Relationship Type="http://schemas.openxmlformats.org/officeDocument/2006/relationships/slideLayout" Target="/ppt/slideLayouts/slideLayout3.xml" Id="R1e57042fd87842f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8584" name="Google Shape;10;p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06eed2c0b14c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576" name="Google Shape;11;p5">
            <a:extLst xmlns:a="http://schemas.openxmlformats.org/drawingml/2006/main">
              <a:ext uri="{FF2B5EF4-FFF2-40B4-BE49-F238E27FC236}">
                <a16:creationId xmlns:a16="http://schemas.microsoft.com/office/drawing/2014/main" id="{2432F83C-E3ED-4AD1-9A21-431F0978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1450"/>
            <a:ext cx="4572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sz="7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© Copyrights 2018 HITAM. All rights reserved.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578" name="Google Shape;13;p5">
            <a:extLst xmlns:a="http://schemas.openxmlformats.org/drawingml/2006/main">
              <a:ext uri="{FF2B5EF4-FFF2-40B4-BE49-F238E27FC236}">
                <a16:creationId xmlns:a16="http://schemas.microsoft.com/office/drawing/2014/main" id="{6377BB5D-5A24-4125-B821-EF41BAAEF2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7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579" name="Google Shape;14;p5">
            <a:extLst xmlns:a="http://schemas.openxmlformats.org/drawingml/2006/main">
              <a:ext uri="{FF2B5EF4-FFF2-40B4-BE49-F238E27FC236}">
                <a16:creationId xmlns:a16="http://schemas.microsoft.com/office/drawing/2014/main" id="{0715CB7E-1C36-46DC-8E71-A468E00F8B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580" name="Google Shape;15;p5">
            <a:extLst xmlns:a="http://schemas.openxmlformats.org/drawingml/2006/main">
              <a:ext uri="{FF2B5EF4-FFF2-40B4-BE49-F238E27FC236}">
                <a16:creationId xmlns:a16="http://schemas.microsoft.com/office/drawing/2014/main" id="{E970BF66-03D5-4CB2-89A0-3C9E2EB137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cap="none">
                <a:solidFill>
                  <a:srgbClr val="8D8D8D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581" name="Google Shape;16;p5">
            <a:extLst xmlns:a="http://schemas.openxmlformats.org/drawingml/2006/main">
              <a:ext uri="{FF2B5EF4-FFF2-40B4-BE49-F238E27FC236}">
                <a16:creationId xmlns:a16="http://schemas.microsoft.com/office/drawing/2014/main" id="{527A8182-E821-4FC5-9560-5AF26A7509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0ce5ea41774d73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8598" name="Google Shape;3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825bcd436643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593" name="Google Shape;31;p9">
            <a:extLst xmlns:a="http://schemas.openxmlformats.org/drawingml/2006/main">
              <a:ext uri="{FF2B5EF4-FFF2-40B4-BE49-F238E27FC236}">
                <a16:creationId xmlns:a16="http://schemas.microsoft.com/office/drawing/2014/main" id="{63D0C619-9E96-40F1-A28F-C987805A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1450"/>
            <a:ext cx="4572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sz="7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© Copyrights 2018 HITAM. All rights reserved.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595" name="Google Shape;33;p9">
            <a:extLst xmlns:a="http://schemas.openxmlformats.org/drawingml/2006/main">
              <a:ext uri="{FF2B5EF4-FFF2-40B4-BE49-F238E27FC236}">
                <a16:creationId xmlns:a16="http://schemas.microsoft.com/office/drawing/2014/main" id="{F6491E8D-B8F8-44BD-AAAB-D9F4AB722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7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596" name="Google Shape;34;p9">
            <a:extLst xmlns:a="http://schemas.openxmlformats.org/drawingml/2006/main">
              <a:ext uri="{FF2B5EF4-FFF2-40B4-BE49-F238E27FC236}">
                <a16:creationId xmlns:a16="http://schemas.microsoft.com/office/drawing/2014/main" id="{A9B3543B-AC54-40C6-9AEF-F0205AD081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d5df75dae8f241a1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8636" name="Google Shape;38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39d6b82d96e4e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48631" name="Google Shape;39;p11">
            <a:extLst xmlns:a="http://schemas.openxmlformats.org/drawingml/2006/main">
              <a:ext uri="{FF2B5EF4-FFF2-40B4-BE49-F238E27FC236}">
                <a16:creationId xmlns:a16="http://schemas.microsoft.com/office/drawing/2014/main" id="{BE9DD000-9D34-4CFA-8B6C-9CBAC255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21450"/>
            <a:ext cx="4572000" cy="2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</a:pPr>
            <a:r>
              <a:rPr sz="7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© Copyrights 2018 HITAM. All rights reserved.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8633" name="Google Shape;41;p11">
            <a:extLst xmlns:a="http://schemas.openxmlformats.org/drawingml/2006/main">
              <a:ext uri="{FF2B5EF4-FFF2-40B4-BE49-F238E27FC236}">
                <a16:creationId xmlns:a16="http://schemas.microsoft.com/office/drawing/2014/main" id="{C03C782C-1916-494F-8F9E-391FA2655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7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48634" name="Google Shape;42;p11">
            <a:extLst xmlns:a="http://schemas.openxmlformats.org/drawingml/2006/main">
              <a:ext uri="{FF2B5EF4-FFF2-40B4-BE49-F238E27FC236}">
                <a16:creationId xmlns:a16="http://schemas.microsoft.com/office/drawing/2014/main" id="{B0600B1F-D2EC-47C7-8411-4C3FC4141E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1e57042fd87842f7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1_Office Theme">
  <a:themeElements>
    <a:clrScheme name="HITAM1">
      <a:dk1>
        <a:srgbClr val="262626"/>
      </a:dk1>
      <a:lt1>
        <a:srgbClr val="FFFFFF"/>
      </a:lt1>
      <a:dk2>
        <a:srgbClr val="1F497D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2_Office Theme">
  <a:themeElements>
    <a:clrScheme name="HITAM1">
      <a:dk1>
        <a:srgbClr val="262626"/>
      </a:dk1>
      <a:lt1>
        <a:srgbClr val="FFFFFF"/>
      </a:lt1>
      <a:dk2>
        <a:srgbClr val="358AF3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4_Office Theme">
  <a:themeElements>
    <a:clrScheme name="HITAM1">
      <a:dk1>
        <a:srgbClr val="262626"/>
      </a:dk1>
      <a:lt1>
        <a:srgbClr val="FFFFFF"/>
      </a:lt1>
      <a:dk2>
        <a:srgbClr val="1F497D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fac74afbc4e1d" /><Relationship Type="http://schemas.openxmlformats.org/officeDocument/2006/relationships/notesSlide" Target="/ppt/notesSlides/notesSlide1.xml" Id="Rcfd01a77915c4bf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c487ff983441e2" /><Relationship Type="http://schemas.openxmlformats.org/officeDocument/2006/relationships/notesSlide" Target="/ppt/notesSlides/notesSlide2.xml" Id="Recb2829d263245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72b9e847e94d51" /><Relationship Type="http://schemas.openxmlformats.org/officeDocument/2006/relationships/notesSlide" Target="/ppt/notesSlides/notesSlide3.xml" Id="R7859e1e705cf4c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5fc5871b8e4a18" /><Relationship Type="http://schemas.openxmlformats.org/officeDocument/2006/relationships/notesSlide" Target="/ppt/notesSlides/notesSlide4.xml" Id="Rf89a564aa4ff43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c3fdb55bd9406a" /><Relationship Type="http://schemas.openxmlformats.org/officeDocument/2006/relationships/notesSlide" Target="/ppt/notesSlides/notesSlide5.xml" Id="Rafaf68a4c4f84d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5fb85b38004f8b" /><Relationship Type="http://schemas.openxmlformats.org/officeDocument/2006/relationships/notesSlide" Target="/ppt/notesSlides/notesSlide6.xml" Id="Rd655f1848b474c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b18b8483c44031" /><Relationship Type="http://schemas.openxmlformats.org/officeDocument/2006/relationships/notesSlide" Target="/ppt/notesSlides/notesSlide7.xml" Id="R00eba5959ce549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53dcecf5474533" /><Relationship Type="http://schemas.openxmlformats.org/officeDocument/2006/relationships/image" Target="/ppt/media/image.png" Id="Rc8045ba427934026" /><Relationship Type="http://schemas.openxmlformats.org/officeDocument/2006/relationships/notesSlide" Target="/ppt/notesSlides/notesSlide8.xml" Id="R1a00121eff3847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f23654b89b4b84" /><Relationship Type="http://schemas.openxmlformats.org/officeDocument/2006/relationships/notesSlide" Target="/ppt/notesSlides/notesSlide9.xml" Id="Rc61318bdaf7843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b004fa4ea14d96" /><Relationship Type="http://schemas.openxmlformats.org/officeDocument/2006/relationships/notesSlide" Target="/ppt/notesSlides/notesSlide10.xml" Id="Re2e9208f2b9a416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d0279f2083a490c" /><Relationship Type="http://schemas.openxmlformats.org/officeDocument/2006/relationships/notesSlide" Target="/ppt/notesSlides/notesSlide11.xml" Id="Rc2d462270d3c40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93278abf404bed" /><Relationship Type="http://schemas.openxmlformats.org/officeDocument/2006/relationships/image" Target="/ppt/media/image2.png" Id="Rd09f1219032d452a" /><Relationship Type="http://schemas.openxmlformats.org/officeDocument/2006/relationships/notesSlide" Target="/ppt/notesSlides/notesSlide12.xml" Id="Re6f8ad62276c4a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4b7a9d177f4d07" /><Relationship Type="http://schemas.openxmlformats.org/officeDocument/2006/relationships/image" Target="/ppt/media/image3.png" Id="Rd20e1a30453c4991" /><Relationship Type="http://schemas.openxmlformats.org/officeDocument/2006/relationships/notesSlide" Target="/ppt/notesSlides/notesSlide13.xml" Id="Rfa996113c60c4d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23688a6a804e63" /><Relationship Type="http://schemas.openxmlformats.org/officeDocument/2006/relationships/notesSlide" Target="/ppt/notesSlides/notesSlide14.xml" Id="Rd7ec0070a8d246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b2fb64cc2d549dd" /><Relationship Type="http://schemas.openxmlformats.org/officeDocument/2006/relationships/image" Target="/ppt/media/image4.png" Id="R0313e61296f14346" /><Relationship Type="http://schemas.openxmlformats.org/officeDocument/2006/relationships/notesSlide" Target="/ppt/notesSlides/notesSlide15.xml" Id="R599a899a52f84f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ee9c0adc7a4766" /><Relationship Type="http://schemas.openxmlformats.org/officeDocument/2006/relationships/notesSlide" Target="/ppt/notesSlides/notesSlide16.xml" Id="R1574b3a4b2f8427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8782459a834626" /><Relationship Type="http://schemas.openxmlformats.org/officeDocument/2006/relationships/notesSlide" Target="/ppt/notesSlides/notesSlide17.xml" Id="Rd909526e57974d2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232c848d6e943ab" /><Relationship Type="http://schemas.openxmlformats.org/officeDocument/2006/relationships/notesSlide" Target="/ppt/notesSlides/notesSlide18.xml" Id="Ra2e0c90d477c4a6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4f0d9d12d9410d" /><Relationship Type="http://schemas.openxmlformats.org/officeDocument/2006/relationships/notesSlide" Target="/ppt/notesSlides/notesSlide19.xml" Id="Re5648788d3a6428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05253999e04c21" /><Relationship Type="http://schemas.openxmlformats.org/officeDocument/2006/relationships/notesSlide" Target="/ppt/notesSlides/notesSlide20.xml" Id="Re88f0896cfd94c2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6f514369c14663" /><Relationship Type="http://schemas.openxmlformats.org/officeDocument/2006/relationships/image" Target="/ppt/media/image5.png" Id="R490629b57c164087" /><Relationship Type="http://schemas.openxmlformats.org/officeDocument/2006/relationships/notesSlide" Target="/ppt/notesSlides/notesSlide21.xml" Id="R0baac81dd6de4aa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94d5c860414ab7" /><Relationship Type="http://schemas.openxmlformats.org/officeDocument/2006/relationships/notesSlide" Target="/ppt/notesSlides/notesSlide22.xml" Id="R57bf8feb08294ee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ac5995b66d43f3" /><Relationship Type="http://schemas.openxmlformats.org/officeDocument/2006/relationships/notesSlide" Target="/ppt/notesSlides/notesSlide23.xml" Id="R40e409c37c1a4de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f04b2458004126" /><Relationship Type="http://schemas.openxmlformats.org/officeDocument/2006/relationships/notesSlide" Target="/ppt/notesSlides/notesSlide24.xml" Id="R2de22aefc9dc458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03989f59784ffd" /><Relationship Type="http://schemas.openxmlformats.org/officeDocument/2006/relationships/image" Target="/ppt/media/image6.png" Id="R0c9e637a875543e8" /><Relationship Type="http://schemas.openxmlformats.org/officeDocument/2006/relationships/notesSlide" Target="/ppt/notesSlides/notesSlide25.xml" Id="R50cee617293440e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130711ba0f459c" /><Relationship Type="http://schemas.openxmlformats.org/officeDocument/2006/relationships/notesSlide" Target="/ppt/notesSlides/notesSlide26.xml" Id="R440f8e01c5bc435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23ffa3323c423d" /><Relationship Type="http://schemas.openxmlformats.org/officeDocument/2006/relationships/notesSlide" Target="/ppt/notesSlides/notesSlide27.xml" Id="R9a8f6af9f005441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24a5b2064c4e66" /><Relationship Type="http://schemas.openxmlformats.org/officeDocument/2006/relationships/notesSlide" Target="/ppt/notesSlides/notesSlide28.xml" Id="R07ee2083c07c423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ce56708ec446af" /><Relationship Type="http://schemas.openxmlformats.org/officeDocument/2006/relationships/notesSlide" Target="/ppt/notesSlides/notesSlide29.xml" Id="R5892a1eb28c4415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f5e459c9164fc8" /><Relationship Type="http://schemas.openxmlformats.org/officeDocument/2006/relationships/notesSlide" Target="/ppt/notesSlides/notesSlide30.xml" Id="R44ee2dbfaa7c454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12571f4d9e492b" /><Relationship Type="http://schemas.openxmlformats.org/officeDocument/2006/relationships/notesSlide" Target="/ppt/notesSlides/notesSlide31.xml" Id="R1f955a4d33fd463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49a2627d714caf" /><Relationship Type="http://schemas.openxmlformats.org/officeDocument/2006/relationships/notesSlide" Target="/ppt/notesSlides/notesSlide32.xml" Id="Rff2a26203e2d410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a10af73af1c410b" /><Relationship Type="http://schemas.openxmlformats.org/officeDocument/2006/relationships/notesSlide" Target="/ppt/notesSlides/notesSlide33.xml" Id="Ra71e504cc52b462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C3E596D-BFBD-40F8-86B6-E98963EF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79" y="640080"/>
            <a:ext cx="6629401" cy="7078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t>HYDERABAD INSTITUTE OF</a:t>
            </a:r>
            <a:r>
              <a:t> </a:t>
            </a:r>
            <a:r>
              <a:t>TECHNOLOGY AND MANAGEMENT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0EE2E6E-FAFF-400C-A930-992E2D74D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3357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MASTERHUB</a:t>
            </a:r>
            <a:endParaRPr>
              <a:solidFill>
                <a:schemeClr val="bg2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 algn="ctr">
              <a:buNone/>
              <a:def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IMPLEMENTATION REVIEW</a:t>
            </a:r>
            <a:endParaRPr>
              <a:solidFill>
                <a:schemeClr val="bg2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725567-EB4A-4677-B6EC-A712742E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996" y="3555630"/>
            <a:ext cx="4457946" cy="969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INTERNSHIP PROJECT REVIEW</a:t>
            </a:r>
            <a:endParaRPr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pPr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>
                <a:latin typeface="Times New Roman"/>
                <a:ea typeface="Times New Roman"/>
                <a:cs typeface="Times New Roman"/>
              </a:rPr>
              <a:t>S NOUSHITH – 24E51A0451</a:t>
            </a:r>
          </a:p>
          <a:p xmlns:a="http://schemas.openxmlformats.org/drawingml/2006/main">
            <a:pPr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B4D9272-A008-436F-B30D-BC1C5102A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84815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BCI  /  IoT  /  Desktop  /  Embedded Mobility  /  Media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5DE5198-9078-4548-8FAC-82D603E5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79" y="5413415"/>
            <a:ext cx="80467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CURRENT IMPLEMENTATION  /  SEPTEMBER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D92312-03BB-4D94-A301-6DE3194B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5128593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855A7-343F-4DF7-BE12-D5EB5D3D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PRESENTATION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488025-DD18-4C83-A48B-04ECD351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7C585-CB37-4036-9115-D3534EC6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7429500" cy="452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Project background and current implementation scope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Architecture, state machine and gesture navigation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Desktop, IoT, mobility and media workflows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Cortex BCI connection and temporal control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Current dashboard, connectivity and diagnostics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Implemented outputs, test coverage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41596-362F-40BB-84C7-F9AA0F7D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ABSTRACT AND 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EA90B7-D334-441C-A176-C69D6804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2E07B-F224-4511-B77D-A7FF79F1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One control hub for multiple execution domains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87CC84-A090-415D-A292-6860EE87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33550"/>
            <a:ext cx="738187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MasterHub accepts browser controls, arrow keys, API commands and classified mental commands from EMOTIV Cortex.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Flask application maintains context, resolves command mappings and dispatches actions through dedicated handlers.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current project connects desktop applications, IoT relay devices, mobility hardware and desktop or mobile media workflows.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original IoT work remains part of the wider SynaptiMesh project.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0AEDA-9F00-4E75-AC51-AD0BA3C1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ORIGINAL PROJECT AND CURRENT MASTERHUB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CFF4B-3EBA-4445-B02B-CC8123D4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BE29A2-6013-42DE-B4D5-85A8C20D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Previous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00F99-EB72-4BB6-AD05-61DCB6EA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Current repository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72CA70-3439-4760-96D7-5377BF40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ESP32 gateway and Arduino Nano sensing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LoRa communication and relay control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Light, fan, pump and audio outputs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MQTT integration and command acknowledgements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FF1EF-89B9-41BD-BE0E-6568A9DF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Four control domains in one dashboard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17 FSM modes and 98 command routes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Cortex profiles, streaming and mental control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Remote PC, UART and mobile media integration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9EED9-05F8-42D5-A946-AD4F3498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 previous deck records earlier hardware work. Current screenshots document the software interface.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DFF69-C66E-45D5-9FE5-001A15A4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MOTIVATION AND OBJECTIVES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FF5F3-461D-4CFA-8012-18F8B625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F6BBDF-706F-43FF-807C-0B793FDF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A consistent workflow across different targets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5FF3A-636E-4EB6-8DA1-7CE46FE1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Reduce separate control interfaces for desktop applications and physical devices.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Reuse a small mental-command vocabulary through context-sensitive menus.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Expose the active domain, device, target and pending command before execution.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Track connection state and command feedback for troubleshooting.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7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Keep hardware transport, command mappings and application actions modular.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4F74E-3B08-41F7-8153-814C5452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IMPLEMENTATION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0AFE2-4F9F-48FA-8FA8-EB84C092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91F68C-5065-48D8-8C19-D46B1748A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F4025-22B4-4225-94A1-1BC81248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32B"/>
                </a:solidFill>
                <a:latin typeface="Arial"/>
                <a:ea typeface="Arial"/>
                <a:cs typeface="Arial"/>
              </a:rPr>
              <a:t>Control domains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F3EA24-3907-4020-A120-ADC96D0F6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47637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564DC2-9030-470A-AAA1-E018148C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333625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32B"/>
                </a:solidFill>
                <a:latin typeface="Arial"/>
                <a:ea typeface="Arial"/>
                <a:cs typeface="Arial"/>
              </a:rPr>
              <a:t>Workflow targets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2F5332-7FFB-49C8-A69A-5B11F80ED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47637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7BE1C-2776-40B2-AFEB-6823F691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333625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32B"/>
                </a:solidFill>
                <a:latin typeface="Arial"/>
                <a:ea typeface="Arial"/>
                <a:cs typeface="Arial"/>
              </a:rPr>
              <a:t>FSM modes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4165D-BADB-4486-8873-D8972EF32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1476375"/>
            <a:ext cx="1619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98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F7EB8-F5F9-4F11-9BED-FEECCB1F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33625"/>
            <a:ext cx="1666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5332B"/>
                </a:solidFill>
                <a:latin typeface="Arial"/>
                <a:ea typeface="Arial"/>
                <a:cs typeface="Arial"/>
              </a:rPr>
              <a:t>Command routes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EB758-62A1-45B8-B4EA-0C992E2F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738187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23 IoT payload mappings include relay actions and firmware maintenance commands.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JSON definitions drive domain navigation and command choices.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Counts describe implemented mappings, not the number of physically connected devices.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7D77A4-5AB5-41C5-ADD9-CA90F4BE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OVERALL SOFTWARE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DC83E-CE5D-4E56-845A-CE9ACDC1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D486F-3905-49A9-8EA1-3A7AD7BB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Input, decision and execution layers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C1A7D4-A74E-47A7-A8B8-083492FD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Input: dashboard, keyboard, REST clients and Cortex mental-command stream.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Decision: input normalization, FSM context, temporal framing and command validation.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Routing: command_map.json selects the execution domain and action identifier.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Execution: application handlers, hardware MQTT, USB serial and mobile MQTT.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Feedback: state snapshots, command outcomes, metrics, logs and device presence.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0A679-CC8C-4BEF-911C-487056B3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DASHBOARD: MAIN CONSOLE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526A3-3ECE-4D6B-9982-84AB5296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045ba427934026"/>
          <a:stretch xmlns:a="http://schemas.openxmlformats.org/drawingml/2006/main"/>
        </p:blipFill>
        <p:spPr>
          <a:xfrm xmlns:a="http://schemas.openxmlformats.org/drawingml/2006/main">
            <a:off x="1421606" y="981075"/>
            <a:ext cx="6300788" cy="4667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B1134F-CB3C-4C63-BDAF-1436D800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Current local capture. MQTT, USB and BCI show their actual disconnected state.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A0E65-6CF4-4FAD-82DE-8361C930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DOMAIN, DEVICE AND COMMAND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9EBD0-C59B-43D4-B23E-FDFEC63E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57A9C-FECB-4895-BB0D-49910DA7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Three phases share the same state machine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D3FB7-EC25-41CD-BC72-454D614F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Domain selection: Desktop, Embedded Mobility, IoT Smart Home or AI/ML &amp; Media.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Device selection: an application, smart-home output, mobility device or media target.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Command execution: choose an action and supply any required parameters.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Push + Right returns to the previous menu. Push + Left returns to the main menu.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same gesture has different meanings in different modes.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F116F1-346C-4AC5-A8DB-0A313D61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GESTURE VOCABULARY AND TIMING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B748C4-C359-438E-9514-1087998E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9A966-CACF-4170-84B0-62FF2FCF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Navigation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DC2075-7C2E-4BFD-BE13-5B7DDE39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Timing behavior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6C557-028E-4B92-BF7E-DCD68DC8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Push: Desktop at the main menu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Pull: Embedded Mobility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Left: IoT Smart Home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Right: AI/ML &amp; Media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Ordered pairs provide additional commands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696188-1336-42A9-96F6-61893C51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Default window: 4 seconds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Configuration range: 2–10 seconds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Dashboard actions: preview and countdown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Manual command pairs: immediate dispatch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Live BCI pairs: original deadline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A02778-0531-4D59-9E87-CC644E8D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Direct /api/command requests do not automatically use the browser framing delay.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519844-DD65-4130-AAAE-5A5C5979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DESKTOP DOMAIN: APPLICATION WORKFLOWS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1E2A9E-EE70-40BC-81B0-A523DC49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F41D2B-7F96-4B08-9B6F-0B2AC1CE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Four application workflows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BE3FC-A0CB-4609-BD40-C01119552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YouTube: previous video, next video, play/pause and search/play.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Chrome: open an article, scroll up or down and Google search.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Notepad: open the application and save a file through mapped commands.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Gmail: compose with recipient, subject and body, then send through a separate command.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Application handlers use the selected Local Host or compatible remote target.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3607FC-4B60-4F38-8F68-C1605BC4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DESKTOP AND TARGET SELECTION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56EDA-FC5F-41D3-B0BB-14A34045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f1219032d452a"/>
          <a:stretch xmlns:a="http://schemas.openxmlformats.org/drawingml/2006/main"/>
        </p:blipFill>
        <p:spPr>
          <a:xfrm xmlns:a="http://schemas.openxmlformats.org/drawingml/2006/main">
            <a:off x="714375" y="1357116"/>
            <a:ext cx="7715250" cy="395326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639D5-2664-4253-9A36-55CDA29B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 PC Agent Controller separates target selection from the application menu.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7FDE7-1B08-4EBC-857F-CA1FBCBD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COMMAND EXECUTION SCREEN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56697-B250-4C16-9206-F74002F50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0e1a30453c4991"/>
          <a:stretch xmlns:a="http://schemas.openxmlformats.org/drawingml/2006/main"/>
        </p:blipFill>
        <p:spPr>
          <a:xfrm xmlns:a="http://schemas.openxmlformats.org/drawingml/2006/main">
            <a:off x="714375" y="1214241"/>
            <a:ext cx="7715250" cy="3953269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3198C-5177-4DA4-B259-6AD15DCE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Notepad mode exposes Open and Save file. This capture shows navigation only.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E7100-714E-4C81-930C-1BE3E7DE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 HARDWARE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5A7EC-13E4-4D14-A081-7F0D057B3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AF7ACF-F39A-4456-92C4-EAD77439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Hardware foundation documented in the original project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F3511-60DA-4B80-8E19-08F2BF67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ESP32 gateway connects MQTT commands to relay outputs.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Arduino Nano handles ultrasonic distance and float-switch sensing.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LoRa links the sensor node and gateway through SPI modules.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DFPlayer provides audio status output through a UART connection.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Original relay assignments: pump GPIO 25, light GPIO 21 and fan GPIO 32.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40A3B-0328-42E5-91B5-D69656D00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Hardware details come from the supplied earlier presentation.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5D0EB-D2A9-47BA-8552-6D22E66B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ORIGINAL IOT WIRING REFERENCE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B4E1E8-1889-4601-BE97-96C3E90F6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3e61296f14346"/>
          <a:stretch xmlns:a="http://schemas.openxmlformats.org/drawingml/2006/main"/>
        </p:blipFill>
        <p:spPr>
          <a:xfrm xmlns:a="http://schemas.openxmlformats.org/drawingml/2006/main">
            <a:off x="1393825" y="1028700"/>
            <a:ext cx="6261100" cy="4695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75F8C-8915-4220-BE88-AE42F8B0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Retained project wiring reference from your earlier PPT.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F1D26-C85F-47E9-AEF4-951938DB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IOT COMMAND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2F1CD9-DAAF-4517-81E4-21E181E6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B2694-CDC7-49C5-859F-322932CB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Relay control plus device maintenance commands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6E104-7B7B-44C5-BAEF-7BE4BD77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Light, fan and pump workflows expose On and Off choices.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IoT map translates action names into firmware command strings.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Additional mappings include all_on, all_off, PING and self-test.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OTA_UPDATE and relay-polarity commands exist in the payload map.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MasterHub publishes to the configured broker and reads device status separately.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FB5347-AA84-47FB-BFE0-1956F8F32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A mapped command requires compatible firmware support on the receiving device.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A91B3-7B6D-43B3-A2EC-BD9AEBF3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EMBEDDED MOBILITY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863BA-4030-4258-81C2-867820C6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C7A57-8075-44A4-8BD5-D53807BC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Robot car and wheelchair use separate control topics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04441-B3C5-4BE3-8AA4-89786962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Both device menus provide forward, backward, left, right and stop.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Additional mappings support left and right 360-degree rotation.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Handlers translate action identifiers into device-specific payload strings.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Readiness checks combine broker state, matching device identity and fresh status.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BCI motion checks the active direction at dispatch and requests stop after neutral.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90819A-B9CF-4A01-9F47-BEFF71FB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These are software control capabilities. Physical motion requires connected, verified hardware.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85ADD-0ED3-4809-9013-CFDEDFCD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DESKTOP AND MOBILE MEDIA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4ED3C-BB2C-4EB0-B50E-799A8DE6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C9994-4848-4DBB-AC67-A03D3515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Desktop JioSaavn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2FBBC-A819-4BB5-831E-A3EC14FC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Mobile JioSaavn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26AE4-F919-4B35-A3D4-2F482BED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Browser-based JioSaavn workflow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Next track and previous track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Play/pause and search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Ordered pairs for volume up/down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EBC6A-622C-4442-BB27-1EFF650D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Dedicated Android companion path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Next, previous and play/pause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Android home, search and launch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Phone presence and now-playing feedback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D6CD7-8CB9-481A-AFA1-60087837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MOBILE MQTT AND ACKNOWLEDGEMENT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09BA3-B405-420C-AE46-751158D3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C0A49-6A14-45E3-8BD0-98380E9E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The phone uses an independent MQTT 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BE1DC-1371-43F1-9A97-6A9E465E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Separate topics carry commands, status, heartbeat, media, acknowledgements and errors.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Dispatch requires a fresh phone heartbeat and remote control enabled on the phone.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Each command carries a unique ID, issue time and expiry time.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service tracks PENDING, EXECUTED, FAILED, REJECTED, UNCONFIRMED and TIMEOUT results.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Retained online messages cannot establish fresh liveness.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BC70D-7117-4541-B7C0-BB5BE2B9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Defaults in code: 8-second acknowledgement timeout and 35-second heartbeat timeout.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AE9995-432F-41A1-ADC3-CA5FC52C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CORTEX CONNECTION AND TRAINED PROFILES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619344-308D-43F6-A9B0-EDA4389C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02D9E-7D50-419E-8EA6-1053E683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EMOTIV supplies the classified mental commands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FBC04F-23CF-4028-B9D4-C7F54281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EMOTIV Launcher and the local Cortex service provide headset access.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MasterHub requests authorization, discovers the headset and opens a session.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user selects and loads an existing trained mental-command profile.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com stream provides the detected action and detector power.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MasterHub routes predictions into its controller. It does not train a raw EEG model.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D768F-A711-4D46-899F-6D03AB88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BCI HEADSET CONSOLE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03AF66-6127-404A-AF1E-5B3D076E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629b57c164087"/>
          <a:stretch xmlns:a="http://schemas.openxmlformats.org/drawingml/2006/main"/>
        </p:blipFill>
        <p:spPr>
          <a:xfrm xmlns:a="http://schemas.openxmlformats.org/drawingml/2006/main">
            <a:off x="5016076" y="1028700"/>
            <a:ext cx="3112347" cy="471487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0140B8-AB3A-4B86-BA2F-27E2ABFD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Connection and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AD6D0-91FE-40B5-B664-87A3DD46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857375"/>
            <a:ext cx="3667125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Connection-stage feedback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Trained-profile selector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Headset, battery and signal fields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Live mental command and power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Monitor mode and control toggle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185CA-4354-49D0-8A0B-307B05CD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 screenshot preserves the offline state. Credentials remain collapsed.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E8763-10E8-4F7A-B76C-E591401D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BCI TEMPORAL CONTROLLER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AF7439-E7FE-46E3-82A1-630480413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49CAFA-0EA9-4CB1-8073-4F2205F2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One frame captures one single or ordered pair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A6B20-0B39-42D2-8982-CCAE48060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 neutral sample rearms control. A qualifying active sample starts the frame.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default detector-power threshold is 0.20, subject to configuration.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 distinct second gesture joins the first only when that pair exists in the current mode.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Repeated packets of the same held gesture do not create repeated commands.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Singles and valid pairs execute at the original deadline when a new prediction arrives.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85A12-D7BD-4AEC-9427-606F7C3A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Detector power is not a measured intention-accuracy percentage.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17E855-9E8C-412C-88A0-58E69B56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BCI CONTEXT AND COMMAND INPUTS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A0F01F-E90D-47DA-9860-BDF6FD396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94D87-0242-43BF-841F-34E41905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The controller keeps intent tied to the active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2C36A-2618-4A6F-AEFF-E7570B6B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Mode or target changes reset pending context. Control-generation checks prevent stale dispatch.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An unassigned qualifying gesture pair cancels its frame.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Search, compose and save operations use prepared parameter fields.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Neutral does not cancel a pending nonmotion action. Stop Control cancels BCI actuation.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Motion requires matching direction at dispatch and neutral requests a stop afterwards.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27384-B008-4920-8E1D-7093DC96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REMOTE PC AGENTS AND USB SERIAL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AFBED4-CA58-4AB7-A09A-015171FB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B0D870-E509-4456-B53E-52E6B609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Target selection supports local and external 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660FC-9A62-47AE-8699-60BFCA76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Local Host executes supported desktop actions on the MasterHub computer.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Remote PCs register a device ID and use a compatible agent over MQTT or serial.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Agent startup helpers and configuration artifacts support deployment setup.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USB configuration selects a COM port and uses JSON-line messages at 115200 baud by default.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 registered target still needs a running agent, a working transport and fresh presence.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A8E284-EC4C-4C6C-9D21-C5D1E59E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SIDEBAR AND OPERATOR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C15240-6FBE-46CA-B493-C32F3D93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9e637a875543e8"/>
          <a:stretch xmlns:a="http://schemas.openxmlformats.org/drawingml/2006/main"/>
        </p:blipFill>
        <p:spPr>
          <a:xfrm xmlns:a="http://schemas.openxmlformats.org/drawingml/2006/main">
            <a:off x="985276" y="1019175"/>
            <a:ext cx="2506199" cy="46958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D61A9A-AC0D-4007-9B7B-FCDCE6C3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190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Built-in tools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39E21-641D-4452-B3FF-71A182DE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38325"/>
            <a:ext cx="3524250" cy="331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Connection matrix and domain shortcuts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Temporal-window presets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Gesture cheat sheet and user guide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Target registration and UART setup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Reset state and software E-Stop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C62D0-1B20-42F9-B6E4-CBED65F2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The sidebar exposes configuration and diagnostic controls within the main console.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F8B6B-86F6-4CDD-8E37-6FA67224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STATUS, TELEMETRY AND ACTIVITY RECORDS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9B06F-4632-4707-8EBB-2A0F5CB9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CAB53-377A-438B-B8A8-5E50C0229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Feedback supports diagnosis at each layer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5DB20-9795-4350-A698-1001BB09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Metrics record response, processing and execution latency with up to 100 recent samples.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Counters track total, successful and failed commands.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Fault Recovery label derives from command outcomes. It is not a physical recovery-time measurement.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Manual and BCI activity records help trace command source and execution result.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dashboard offers LOG, JSON and CSV telemetry export.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1CF3FB-AE31-4FDD-8C91-7BFF50EE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AND CONFIGURATION SURFACE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BD58E-0A44-41E1-A530-C9D85314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BBC68-CD1D-4D33-A83E-71364E22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The browser and external clients share the backend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DF125-0356-426F-94E2-FA231833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POST /api/command accepts supported command and gesture inputs.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State and workflow endpoints expose current context and available choices.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Health, metrics and device-status endpoints support monitoring.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Hardware configuration stores broker and topic settings for subsequent use.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Cortex endpoints manage connection, profile, stream status and control mode.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A49676-69E3-4CD8-B4B9-83A98C73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 CONTROLS AND OPERATING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86339-9D37-47FF-B89C-80C83DEE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9CFED-8ABE-43D4-8F10-1AFFE2B9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Software safeguards support controlled testing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C7D86-E7CD-4439-8612-11542472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Command validation rejects unsupported routes and checks required parameters.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BCI interface begins in monitor mode and requires explicit control enablement.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Dashboard countdowns support cancellation before dispatch.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Software E-Stop requests stops. A device acknowledgement and independent hardware stop remain essential.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Simulation Mode changes UI state and logs. It does not isolate real actions.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3FEFF-A8D7-456C-B7FB-9B237CD9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COVERAGE AND REPLAY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D9127-DD5C-459F-8FD8-0BD25727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4DC1F-C23C-415A-9526-7CF98992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Tests cover control behavior and service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EE585-55EC-423C-A2FC-78803A83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BCI tests cover framing, neutral rearm, ordered pairs, context changes and motion handling.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Workflow tests cover state transitions, mappings and command updates.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Other modules test hardware status, mobile media and separate logging paths.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Recorded-prediction replay sends requests through the command API.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Replay filtering differs from the live controller. Hardware results need a connected-device test.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EF245-9F83-40D2-A81F-68CE6031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This deck describes the test coverage present in the repository, not a new full-suite test result.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49D11-87B2-431A-A623-53B03D8B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 STATUS AND DEPENDENCIES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7662AC-C6A2-43C0-84C9-58AABF3C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BB0686-07DE-41DF-B96F-7A5711FC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Implemented in MasterHub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4E1399-3695-4806-A66B-88A58A89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382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Needed for live operation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F90AA9-7F1E-4594-8007-9DA462D3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Four-domain dashboard and workflow builder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Mapped state machine and command router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Cortex stream and temporal controller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MQTT, USB and remote-target services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Mobile acknowledgements and telemetry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EC0B5B-6CDB-418B-BD17-16E3ECF8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62125"/>
            <a:ext cx="3286125" cy="3571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Broker and compatible device firmware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Connected and safe mobility hardware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Running remote PC or Android agent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EMOTIV access and trained profile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725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Application sessions and desktop access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A6599-5201-40EF-B5C5-135CD977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DEVELOPMENT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4D59E7-3C70-428E-8E40-31DD1F43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68D9A-2861-48AA-A3FE-0776B59C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Next work builds on the current modules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DDE43-35AE-46E6-8B80-E4DC3682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14500"/>
            <a:ext cx="7381875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Complete connected-device validation for each transport and command family.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Add device-side watchdogs and verify stop acknowledgements under link failure.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Create a dry-run backend that cannot dispatch physical or desktop actions.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Expand repeatable integration tests and remote-agent packaging.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80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Improve user-specific BCI calibration and deployment authentication.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488E8-128B-4457-BEE4-EC7F9B9C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7381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55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557"/>
                </a:solidFill>
                <a:latin typeface="Arial"/>
                <a:ea typeface="Arial"/>
                <a:cs typeface="Arial"/>
              </a:rPr>
              <a:t>Proposed next steps, separate from implemented features.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C5FF9-707A-4B5E-94A9-918880B8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"/>
            <a:ext cx="7029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CF450-96A5-400E-A3F5-0A432E8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AD432D-B80D-47DF-8722-62DD0E62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104900"/>
            <a:ext cx="7429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7F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46"/>
                </a:solidFill>
                <a:latin typeface="Arial"/>
                <a:ea typeface="Arial"/>
                <a:cs typeface="Arial"/>
              </a:rPr>
              <a:t>MasterHub now provides a common control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FBDBF-55EC-4233-9A90-82FA0E0F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33550"/>
            <a:ext cx="73818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5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project combines the earlier IoT hardware work with desktop, mobility and media control.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5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A shared state machine and mapping layer reuse manual and mental-command inputs.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5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current dashboard exposes workflow context, connection status and command feedback.</a:t>
            </a:r>
          </a:p>
          <a:p xmlns:a="http://schemas.openxmlformats.org/drawingml/2006/main">
            <a:pPr marL="228600" indent="-114300" algn="l">
              <a:spcAft>
                <a:spcPts val="1500"/>
              </a:spcAft>
              <a:buChar char="•"/>
              <a:defRPr sz="1950" b="0">
                <a:solidFill>
                  <a:srgbClr val="25332B"/>
                </a:solidFill>
                <a:latin typeface="Arial"/>
                <a:ea typeface="Arial"/>
                <a:cs typeface="Arial"/>
              </a:defRPr>
            </a:pPr>
            <a:r>
              <a:t>The next milestone is repeatable end-to-end validation with the complete hardware setup.</a:t>
            </a:r>
          </a:p>
        </p:txBody>
      </p:sp>
    </p:spTree>
    <p:extLst>
      <p:ext uri="{BB962C8B-B14F-4D97-AF65-F5344CB8AC3E}">
        <p14:creationId xmlns:p14="http://schemas.microsoft.com/office/powerpoint/2010/main" val="4157100294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2CFC47D-3F82-BC60-29DC-6DE1CAE1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045" y="2064774"/>
            <a:ext cx="5584722" cy="21236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6600" b="1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ll MT"/>
                <a:ea typeface="Bell MT"/>
                <a:cs typeface="Bell MT"/>
              </a:rPr>
              <a:t>THANK 					YOU</a:t>
            </a:r>
            <a:endParaRPr sz="6600" b="1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ell MT"/>
              <a:ea typeface="Bell MT"/>
              <a:cs typeface="Bell MT"/>
            </a:endParaRP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DB38DA-F2B5-45EB-8619-A3ED6069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67475"/>
            <a:ext cx="419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6666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772492685"/>
      </p:ext>
    </p:extLst>
  </p:cSld>
</p:sld>
</file>

<file path=ppt/theme/theme1.xml><?xml version="1.0" encoding="utf-8"?>
<a:theme xmlns:a="http://schemas.openxmlformats.org/drawingml/2006/main" name="1_Office Theme">
  <a:themeElements>
    <a:clrScheme name="HITAM1">
      <a:dk1>
        <a:srgbClr val="262626"/>
      </a:dk1>
      <a:lt1>
        <a:srgbClr val="FFFFFF"/>
      </a:lt1>
      <a:dk2>
        <a:srgbClr val="1F497D"/>
      </a:dk2>
      <a:lt2>
        <a:srgbClr val="EEECE1"/>
      </a:lt2>
      <a:accent1>
        <a:srgbClr val="2B7D1D"/>
      </a:accent1>
      <a:accent2>
        <a:srgbClr val="7CD14B"/>
      </a:accent2>
      <a:accent3>
        <a:srgbClr val="9BBB59"/>
      </a:accent3>
      <a:accent4>
        <a:srgbClr val="FFDD0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ITAM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2026-09-26T04:49:00.3310000Z</dcterms:created>
  <dcterms:modified xsi:type="dcterms:W3CDTF">2026-09-26T04:49:00.3320000Z</dcterms:modified>
</coreProperties>
</file>