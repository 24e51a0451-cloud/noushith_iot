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dc739f4c204ee3" /><Relationship Type="http://schemas.openxmlformats.org/officeDocument/2006/relationships/extended-properties" Target="/docProps/app.xml" Id="R53d007a3c57e4fa4" /><Relationship Type="http://schemas.openxmlformats.org/officeDocument/2006/relationships/officeDocument" Target="/ppt/presentation.xml" Id="R5316f2795c8446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ddcec5b59354b89"/>
    <p:sldMasterId xmlns:r="http://schemas.openxmlformats.org/officeDocument/2006/relationships" id="2147483650" r:id="R4f7651946cfd4577"/>
    <p:sldMasterId xmlns:r="http://schemas.openxmlformats.org/officeDocument/2006/relationships" id="2147483652" r:id="Re98718a1a9a64d95"/>
  </p:sldMasterIdLst>
  <p:notesMasterIdLst>
    <p:notesMasterId xmlns:r="http://schemas.openxmlformats.org/officeDocument/2006/relationships" r:id="R401809733b3b41a9"/>
  </p:notesMasterIdLst>
  <p:sldIdLst>
    <p:sldId xmlns:r="http://schemas.openxmlformats.org/officeDocument/2006/relationships" id="256" r:id="R4a10a63496954b0d"/>
    <p:sldId xmlns:r="http://schemas.openxmlformats.org/officeDocument/2006/relationships" id="257" r:id="Reb9bbdc0cbba4f34"/>
    <p:sldId xmlns:r="http://schemas.openxmlformats.org/officeDocument/2006/relationships" id="258" r:id="R33058afdb3dc4e61"/>
    <p:sldId xmlns:r="http://schemas.openxmlformats.org/officeDocument/2006/relationships" id="259" r:id="R64261e4da94948a4"/>
    <p:sldId xmlns:r="http://schemas.openxmlformats.org/officeDocument/2006/relationships" id="260" r:id="R5dc49a210a934963"/>
    <p:sldId xmlns:r="http://schemas.openxmlformats.org/officeDocument/2006/relationships" id="261" r:id="R34c72bd0d3eb498d"/>
    <p:sldId xmlns:r="http://schemas.openxmlformats.org/officeDocument/2006/relationships" id="262" r:id="Re34757768a384b43"/>
    <p:sldId xmlns:r="http://schemas.openxmlformats.org/officeDocument/2006/relationships" id="263" r:id="R60ea0fe7e0c94a8f"/>
    <p:sldId xmlns:r="http://schemas.openxmlformats.org/officeDocument/2006/relationships" id="264" r:id="Rb29697c11a414b11"/>
    <p:sldId xmlns:r="http://schemas.openxmlformats.org/officeDocument/2006/relationships" id="265" r:id="R5697324747b84a4e"/>
    <p:sldId xmlns:r="http://schemas.openxmlformats.org/officeDocument/2006/relationships" id="266" r:id="Rdfb6076a5e344de0"/>
    <p:sldId xmlns:r="http://schemas.openxmlformats.org/officeDocument/2006/relationships" id="267" r:id="Re7e4c3ddaa2d4689"/>
    <p:sldId xmlns:r="http://schemas.openxmlformats.org/officeDocument/2006/relationships" id="268" r:id="R2d9c51017d1b41ee"/>
    <p:sldId xmlns:r="http://schemas.openxmlformats.org/officeDocument/2006/relationships" id="269" r:id="R59e4be8aaacf4850"/>
    <p:sldId xmlns:r="http://schemas.openxmlformats.org/officeDocument/2006/relationships" id="270" r:id="Rf142adf925f347a3"/>
    <p:sldId xmlns:r="http://schemas.openxmlformats.org/officeDocument/2006/relationships" id="271" r:id="R86a5460323474781"/>
    <p:sldId xmlns:r="http://schemas.openxmlformats.org/officeDocument/2006/relationships" id="272" r:id="R9780056ce790450b"/>
    <p:sldId xmlns:r="http://schemas.openxmlformats.org/officeDocument/2006/relationships" id="273" r:id="R0f6b1cfcaf124b0a"/>
    <p:sldId xmlns:r="http://schemas.openxmlformats.org/officeDocument/2006/relationships" id="274" r:id="R474785a36cd041ba"/>
    <p:sldId xmlns:r="http://schemas.openxmlformats.org/officeDocument/2006/relationships" id="275" r:id="R996b860f75394b3f"/>
    <p:sldId xmlns:r="http://schemas.openxmlformats.org/officeDocument/2006/relationships" id="276" r:id="R74927d93acb548ac"/>
    <p:sldId xmlns:r="http://schemas.openxmlformats.org/officeDocument/2006/relationships" id="277" r:id="Rebe890b62127479b"/>
    <p:sldId xmlns:r="http://schemas.openxmlformats.org/officeDocument/2006/relationships" id="278" r:id="R2d85fa033e1b4edc"/>
    <p:sldId xmlns:r="http://schemas.openxmlformats.org/officeDocument/2006/relationships" id="279" r:id="R2d2b0dd3e58a4971"/>
    <p:sldId xmlns:r="http://schemas.openxmlformats.org/officeDocument/2006/relationships" id="280" r:id="Rfd3f4fc455be4110"/>
    <p:sldId xmlns:r="http://schemas.openxmlformats.org/officeDocument/2006/relationships" id="281" r:id="Re524b66002b94336"/>
    <p:sldId xmlns:r="http://schemas.openxmlformats.org/officeDocument/2006/relationships" id="282" r:id="R675a939582324ce1"/>
    <p:sldId xmlns:r="http://schemas.openxmlformats.org/officeDocument/2006/relationships" id="283" r:id="Rd1a82a0fc0b54e13"/>
    <p:sldId xmlns:r="http://schemas.openxmlformats.org/officeDocument/2006/relationships" id="284" r:id="Rce3457cb3df043af"/>
    <p:sldId xmlns:r="http://schemas.openxmlformats.org/officeDocument/2006/relationships" id="285" r:id="Rf8bc7359f2264d4d"/>
    <p:sldId xmlns:r="http://schemas.openxmlformats.org/officeDocument/2006/relationships" id="286" r:id="R3066b2910f0b4976"/>
    <p:sldId xmlns:r="http://schemas.openxmlformats.org/officeDocument/2006/relationships" id="287" r:id="R2c89009cc49542a6"/>
    <p:sldId xmlns:r="http://schemas.openxmlformats.org/officeDocument/2006/relationships" id="288" r:id="R33b4c358a7364320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a1cf185c1742d8" /><Relationship Type="http://schemas.openxmlformats.org/officeDocument/2006/relationships/slideMaster" Target="/ppt/slideMasters/slideMaster1.xml" Id="R4ddcec5b59354b89" /><Relationship Type="http://schemas.openxmlformats.org/officeDocument/2006/relationships/slideMaster" Target="/ppt/slideMasters/slideMaster2.xml" Id="R4f7651946cfd4577" /><Relationship Type="http://schemas.openxmlformats.org/officeDocument/2006/relationships/slideMaster" Target="/ppt/slideMasters/slideMaster3.xml" Id="Re98718a1a9a64d95" /><Relationship Type="http://schemas.openxmlformats.org/officeDocument/2006/relationships/notesMaster" Target="/ppt/notesMasters/notesMaster1.xml" Id="R401809733b3b41a9" /><Relationship Type="http://schemas.openxmlformats.org/officeDocument/2006/relationships/presProps" Target="/ppt/presProps.xml" Id="Rd7e33c517f6d40fb" /><Relationship Type="http://schemas.openxmlformats.org/officeDocument/2006/relationships/viewProps" Target="/ppt/viewProps.xml" Id="Rd027a06c72644490" /><Relationship Type="http://schemas.openxmlformats.org/officeDocument/2006/relationships/tableStyles" Target="/ppt/tableStyles.xml" Id="R3c923dbc525e4324" /><Relationship Type="http://schemas.openxmlformats.org/officeDocument/2006/relationships/slide" Target="/ppt/slides/slide1.xml" Id="R4a10a63496954b0d" /><Relationship Type="http://schemas.openxmlformats.org/officeDocument/2006/relationships/slide" Target="/ppt/slides/slide2.xml" Id="Reb9bbdc0cbba4f34" /><Relationship Type="http://schemas.openxmlformats.org/officeDocument/2006/relationships/slide" Target="/ppt/slides/slide3.xml" Id="R33058afdb3dc4e61" /><Relationship Type="http://schemas.openxmlformats.org/officeDocument/2006/relationships/slide" Target="/ppt/slides/slide4.xml" Id="R64261e4da94948a4" /><Relationship Type="http://schemas.openxmlformats.org/officeDocument/2006/relationships/slide" Target="/ppt/slides/slide5.xml" Id="R5dc49a210a934963" /><Relationship Type="http://schemas.openxmlformats.org/officeDocument/2006/relationships/slide" Target="/ppt/slides/slide6.xml" Id="R34c72bd0d3eb498d" /><Relationship Type="http://schemas.openxmlformats.org/officeDocument/2006/relationships/slide" Target="/ppt/slides/slide7.xml" Id="Re34757768a384b43" /><Relationship Type="http://schemas.openxmlformats.org/officeDocument/2006/relationships/slide" Target="/ppt/slides/slide8.xml" Id="R60ea0fe7e0c94a8f" /><Relationship Type="http://schemas.openxmlformats.org/officeDocument/2006/relationships/slide" Target="/ppt/slides/slide9.xml" Id="Rb29697c11a414b11" /><Relationship Type="http://schemas.openxmlformats.org/officeDocument/2006/relationships/slide" Target="/ppt/slides/slide10.xml" Id="R5697324747b84a4e" /><Relationship Type="http://schemas.openxmlformats.org/officeDocument/2006/relationships/slide" Target="/ppt/slides/slide11.xml" Id="Rdfb6076a5e344de0" /><Relationship Type="http://schemas.openxmlformats.org/officeDocument/2006/relationships/slide" Target="/ppt/slides/slide12.xml" Id="Re7e4c3ddaa2d4689" /><Relationship Type="http://schemas.openxmlformats.org/officeDocument/2006/relationships/slide" Target="/ppt/slides/slide13.xml" Id="R2d9c51017d1b41ee" /><Relationship Type="http://schemas.openxmlformats.org/officeDocument/2006/relationships/slide" Target="/ppt/slides/slide14.xml" Id="R59e4be8aaacf4850" /><Relationship Type="http://schemas.openxmlformats.org/officeDocument/2006/relationships/slide" Target="/ppt/slides/slide15.xml" Id="Rf142adf925f347a3" /><Relationship Type="http://schemas.openxmlformats.org/officeDocument/2006/relationships/slide" Target="/ppt/slides/slide16.xml" Id="R86a5460323474781" /><Relationship Type="http://schemas.openxmlformats.org/officeDocument/2006/relationships/slide" Target="/ppt/slides/slide17.xml" Id="R9780056ce790450b" /><Relationship Type="http://schemas.openxmlformats.org/officeDocument/2006/relationships/slide" Target="/ppt/slides/slide18.xml" Id="R0f6b1cfcaf124b0a" /><Relationship Type="http://schemas.openxmlformats.org/officeDocument/2006/relationships/slide" Target="/ppt/slides/slide19.xml" Id="R474785a36cd041ba" /><Relationship Type="http://schemas.openxmlformats.org/officeDocument/2006/relationships/slide" Target="/ppt/slides/slide20.xml" Id="R996b860f75394b3f" /><Relationship Type="http://schemas.openxmlformats.org/officeDocument/2006/relationships/slide" Target="/ppt/slides/slide21.xml" Id="R74927d93acb548ac" /><Relationship Type="http://schemas.openxmlformats.org/officeDocument/2006/relationships/slide" Target="/ppt/slides/slide22.xml" Id="Rebe890b62127479b" /><Relationship Type="http://schemas.openxmlformats.org/officeDocument/2006/relationships/slide" Target="/ppt/slides/slide23.xml" Id="R2d85fa033e1b4edc" /><Relationship Type="http://schemas.openxmlformats.org/officeDocument/2006/relationships/slide" Target="/ppt/slides/slide24.xml" Id="R2d2b0dd3e58a4971" /><Relationship Type="http://schemas.openxmlformats.org/officeDocument/2006/relationships/slide" Target="/ppt/slides/slide25.xml" Id="Rfd3f4fc455be4110" /><Relationship Type="http://schemas.openxmlformats.org/officeDocument/2006/relationships/slide" Target="/ppt/slides/slide26.xml" Id="Re524b66002b94336" /><Relationship Type="http://schemas.openxmlformats.org/officeDocument/2006/relationships/slide" Target="/ppt/slides/slide27.xml" Id="R675a939582324ce1" /><Relationship Type="http://schemas.openxmlformats.org/officeDocument/2006/relationships/slide" Target="/ppt/slides/slide28.xml" Id="Rd1a82a0fc0b54e13" /><Relationship Type="http://schemas.openxmlformats.org/officeDocument/2006/relationships/slide" Target="/ppt/slides/slide29.xml" Id="Rce3457cb3df043af" /><Relationship Type="http://schemas.openxmlformats.org/officeDocument/2006/relationships/slide" Target="/ppt/slides/slide30.xml" Id="Rf8bc7359f2264d4d" /><Relationship Type="http://schemas.openxmlformats.org/officeDocument/2006/relationships/slide" Target="/ppt/slides/slide31.xml" Id="R3066b2910f0b4976" /><Relationship Type="http://schemas.openxmlformats.org/officeDocument/2006/relationships/slide" Target="/ppt/slides/slide32.xml" Id="R2c89009cc49542a6" /><Relationship Type="http://schemas.openxmlformats.org/officeDocument/2006/relationships/slide" Target="/ppt/slides/slide33.xml" Id="R33b4c358a736432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b1660625739e479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1_Office Theme">
  <a:themeElements>
    <a:clrScheme name="HITAM1">
      <a:dk1>
        <a:srgbClr val="262626"/>
      </a:dk1>
      <a:lt1>
        <a:srgbClr val="FFFFFF"/>
      </a:lt1>
      <a:dk2>
        <a:srgbClr val="1F497D"/>
      </a:dk2>
      <a:lt2>
        <a:srgbClr val="EEECE1"/>
      </a:lt2>
      <a:accent1>
        <a:srgbClr val="2B7D1D"/>
      </a:accent1>
      <a:accent2>
        <a:srgbClr val="7CD14B"/>
      </a:accent2>
      <a:accent3>
        <a:srgbClr val="9BBB59"/>
      </a:accent3>
      <a:accent4>
        <a:srgbClr val="FFDD00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ITAM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b57cd7553844e75" /><Relationship Type="http://schemas.openxmlformats.org/officeDocument/2006/relationships/notesMaster" Target="/ppt/notesMasters/notesMaster1.xml" Id="R31c84520524440e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b9d5fa877164b97" /><Relationship Type="http://schemas.openxmlformats.org/officeDocument/2006/relationships/notesMaster" Target="/ppt/notesMasters/notesMaster1.xml" Id="R492ce1be32f5439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be99d3117d0466c" /><Relationship Type="http://schemas.openxmlformats.org/officeDocument/2006/relationships/notesMaster" Target="/ppt/notesMasters/notesMaster1.xml" Id="Re4116f3210f74b6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238dbe65ac14285" /><Relationship Type="http://schemas.openxmlformats.org/officeDocument/2006/relationships/notesMaster" Target="/ppt/notesMasters/notesMaster1.xml" Id="Rcde369b1f7014b1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60917c5dd6d4745" /><Relationship Type="http://schemas.openxmlformats.org/officeDocument/2006/relationships/notesMaster" Target="/ppt/notesMasters/notesMaster1.xml" Id="R9042317b6043499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2c6ebb75f114c79" /><Relationship Type="http://schemas.openxmlformats.org/officeDocument/2006/relationships/notesMaster" Target="/ppt/notesMasters/notesMaster1.xml" Id="Rd09d34f369b5484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187b78d7b944a41" /><Relationship Type="http://schemas.openxmlformats.org/officeDocument/2006/relationships/notesMaster" Target="/ppt/notesMasters/notesMaster1.xml" Id="R29fbdd7721224e1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80e68a9a8b6499a" /><Relationship Type="http://schemas.openxmlformats.org/officeDocument/2006/relationships/notesMaster" Target="/ppt/notesMasters/notesMaster1.xml" Id="Ra82d1b18239e44b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de92630f83342b8" /><Relationship Type="http://schemas.openxmlformats.org/officeDocument/2006/relationships/notesMaster" Target="/ppt/notesMasters/notesMaster1.xml" Id="R1e2af0eb9434410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de8b3f50e1d4d3d" /><Relationship Type="http://schemas.openxmlformats.org/officeDocument/2006/relationships/notesMaster" Target="/ppt/notesMasters/notesMaster1.xml" Id="R1e00fc89471e49d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39e19f763f84719" /><Relationship Type="http://schemas.openxmlformats.org/officeDocument/2006/relationships/notesMaster" Target="/ppt/notesMasters/notesMaster1.xml" Id="Rf388701b88224fb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b31f22857d54913" /><Relationship Type="http://schemas.openxmlformats.org/officeDocument/2006/relationships/notesMaster" Target="/ppt/notesMasters/notesMaster1.xml" Id="Rd22ff6ce4004496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1b1e6461c594a62" /><Relationship Type="http://schemas.openxmlformats.org/officeDocument/2006/relationships/notesMaster" Target="/ppt/notesMasters/notesMaster1.xml" Id="R7f4dc16370aa4aa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c97592a94ba47bb" /><Relationship Type="http://schemas.openxmlformats.org/officeDocument/2006/relationships/notesMaster" Target="/ppt/notesMasters/notesMaster1.xml" Id="Ra58a705e56ba4d2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da243e8f12c444c" /><Relationship Type="http://schemas.openxmlformats.org/officeDocument/2006/relationships/notesMaster" Target="/ppt/notesMasters/notesMaster1.xml" Id="R6cfc553cab72430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1f194ca16894ecd" /><Relationship Type="http://schemas.openxmlformats.org/officeDocument/2006/relationships/notesMaster" Target="/ppt/notesMasters/notesMaster1.xml" Id="R232e72fececa4ac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98ef2c2ef1541c6" /><Relationship Type="http://schemas.openxmlformats.org/officeDocument/2006/relationships/notesMaster" Target="/ppt/notesMasters/notesMaster1.xml" Id="R9c8d6a2ab2794cc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dfcce9774254285" /><Relationship Type="http://schemas.openxmlformats.org/officeDocument/2006/relationships/notesMaster" Target="/ppt/notesMasters/notesMaster1.xml" Id="R7aa3b41f64c84c0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e8a3d64c9244e72" /><Relationship Type="http://schemas.openxmlformats.org/officeDocument/2006/relationships/notesMaster" Target="/ppt/notesMasters/notesMaster1.xml" Id="R41ff7c6e45814eb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d82f47f94184735" /><Relationship Type="http://schemas.openxmlformats.org/officeDocument/2006/relationships/notesMaster" Target="/ppt/notesMasters/notesMaster1.xml" Id="R255cab5ec495456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1647058851c4b57" /><Relationship Type="http://schemas.openxmlformats.org/officeDocument/2006/relationships/notesMaster" Target="/ppt/notesMasters/notesMaster1.xml" Id="R9d1aea4988fc4cd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fb672f2c038479e" /><Relationship Type="http://schemas.openxmlformats.org/officeDocument/2006/relationships/notesMaster" Target="/ppt/notesMasters/notesMaster1.xml" Id="R5f2e7f8175cf46c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468805de9374442" /><Relationship Type="http://schemas.openxmlformats.org/officeDocument/2006/relationships/notesMaster" Target="/ppt/notesMasters/notesMaster1.xml" Id="R75c4a163821341e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f4107ef5b134ccb" /><Relationship Type="http://schemas.openxmlformats.org/officeDocument/2006/relationships/notesMaster" Target="/ppt/notesMasters/notesMaster1.xml" Id="R20f0ca2424d14c0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dcf4dfb56ea46d4" /><Relationship Type="http://schemas.openxmlformats.org/officeDocument/2006/relationships/notesMaster" Target="/ppt/notesMasters/notesMaster1.xml" Id="Rcb2c73db48ca406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c1831fddb174108" /><Relationship Type="http://schemas.openxmlformats.org/officeDocument/2006/relationships/notesMaster" Target="/ppt/notesMasters/notesMaster1.xml" Id="Re5bbd352272e49a4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609d1cf370f4457" /><Relationship Type="http://schemas.openxmlformats.org/officeDocument/2006/relationships/notesMaster" Target="/ppt/notesMasters/notesMaster1.xml" Id="Rad6d73dc52fc432d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b1557e9e0cef4f5b" /><Relationship Type="http://schemas.openxmlformats.org/officeDocument/2006/relationships/notesMaster" Target="/ppt/notesMasters/notesMaster1.xml" Id="R6df2fae44f2b4c1a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30730b1963c64bd9" /><Relationship Type="http://schemas.openxmlformats.org/officeDocument/2006/relationships/notesMaster" Target="/ppt/notesMasters/notesMaster1.xml" Id="R671a6b177df74505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f09b2996e85443a8" /><Relationship Type="http://schemas.openxmlformats.org/officeDocument/2006/relationships/notesMaster" Target="/ppt/notesMasters/notesMaster1.xml" Id="Rf2d310f3ff1f4b6a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65184ddf2e5e4c05" /><Relationship Type="http://schemas.openxmlformats.org/officeDocument/2006/relationships/notesMaster" Target="/ppt/notesMasters/notesMaster1.xml" Id="R5c096b014a104b40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88a434f587964392" /><Relationship Type="http://schemas.openxmlformats.org/officeDocument/2006/relationships/notesMaster" Target="/ppt/notesMasters/notesMaster1.xml" Id="Rf246589969d14937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41c2874df92c47a2" /><Relationship Type="http://schemas.openxmlformats.org/officeDocument/2006/relationships/notesMaster" Target="/ppt/notesMasters/notesMaster1.xml" Id="Rdd05af1350e94ce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Original cover artwork and presenter identity preserved from noushith_IOT_ppt.pptx. Current implementation as of 26 September 2026.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</a:t>
            </a:r>
          </a:p>
          <a:p xmlns:a="http://schemas.openxmlformats.org/drawingml/2006/main">
            <a:r>
              <a:t>Repository snapshot: 26 September 2026. Implementation describes code and mappings. Screenshots show the current local application, with external hardware disconnected.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</a:t>
            </a:r>
          </a:p>
          <a:p xmlns:a="http://schemas.openxmlformats.org/drawingml/2006/main">
            <a:r>
              <a:t>Repository snapshot: 26 September 2026. Implementation describes code and mappings. Screenshots show the current local application, with external hardware disconnected.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Original PPT slides 3, 7–9; mappings/*.json; README.md</a:t>
            </a:r>
          </a:p>
          <a:p xmlns:a="http://schemas.openxmlformats.org/drawingml/2006/main">
            <a:r>
              <a:t>Repository snapshot: 26 September 2026. Implementation describes code and mappings. Screenshots show the current local application, with external hardware disconnected.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</a:t>
            </a:r>
          </a:p>
          <a:p xmlns:a="http://schemas.openxmlformats.org/drawingml/2006/main">
            <a:r>
              <a:t>Repository snapshot: 26 September 2026. Implementation describes code and mappings. Screenshots show the current local application, with external hardware disconnected.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mappings/mode_map.json; command_map.json; workflow_map.json; iot_map.json</a:t>
            </a:r>
          </a:p>
          <a:p xmlns:a="http://schemas.openxmlformats.org/drawingml/2006/main">
            <a:r>
              <a:t>Repository snapshot: 26 September 2026. Implementation describes code and mappings. Screenshots show the current local application, with external hardware disconnected.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app.py; core/engine.py; core/router.py; services/; actions/</a:t>
            </a:r>
          </a:p>
          <a:p xmlns:a="http://schemas.openxmlformats.org/drawingml/2006/main">
            <a:r>
              <a:t>Repository snapshot: 26 September 2026. Implementation describes code and mappings. Screenshots show the current local application, with external hardware disconnected.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templates/dashboard.html; static/masterhub.js; current screenshot</a:t>
            </a:r>
          </a:p>
          <a:p xmlns:a="http://schemas.openxmlformats.org/drawingml/2006/main">
            <a:r>
              <a:t>Repository snapshot: 26 September 2026. Implementation describes code and mappings. Screenshots show the current local application, with external hardware disconnected.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mappings/workflow_map.json; services/workflow_service.py</a:t>
            </a:r>
          </a:p>
          <a:p xmlns:a="http://schemas.openxmlformats.org/drawingml/2006/main">
            <a:r>
              <a:t>Repository snapshot: 26 September 2026. Implementation describes code and mappings. Screenshots show the current local application, with external hardware disconnected.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README.md; static/masterhub.js; cortex/control.py</a:t>
            </a:r>
          </a:p>
          <a:p xmlns:a="http://schemas.openxmlformats.org/drawingml/2006/main">
            <a:r>
              <a:t>Repository snapshot: 26 September 2026. Implementation describes code and mappings. Screenshots show the current local application, with external hardware disconnected.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mappings/workflow_map.json; actions/desktop/</a:t>
            </a:r>
          </a:p>
          <a:p xmlns:a="http://schemas.openxmlformats.org/drawingml/2006/main">
            <a:r>
              <a:t>Repository snapshot: 26 September 2026. Implementation describes code and mappings. Screenshots show the current local application, with external hardware disconnected.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Current dashboard screenshot; core/devices.py</a:t>
            </a:r>
          </a:p>
          <a:p xmlns:a="http://schemas.openxmlformats.org/drawingml/2006/main">
            <a:r>
              <a:t>Repository snapshot: 26 September 2026. Implementation describes code and mappings. Screenshots show the current local application, with external hardware disconnected.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Current dashboard screenshot; mappings/workflow_map.json</a:t>
            </a:r>
          </a:p>
          <a:p xmlns:a="http://schemas.openxmlformats.org/drawingml/2006/main">
            <a:r>
              <a:t>Repository snapshot: 26 September 2026. Implementation describes code and mappings. Screenshots show the current local application, with external hardware disconnected.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Original PPT slides 7, 9, 10</a:t>
            </a:r>
          </a:p>
          <a:p xmlns:a="http://schemas.openxmlformats.org/drawingml/2006/main">
            <a:r>
              <a:t>Repository snapshot: 26 September 2026. Implementation describes code and mappings. Screenshots show the current local application, with external hardware disconnected.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Original PPT slide 10</a:t>
            </a:r>
          </a:p>
          <a:p xmlns:a="http://schemas.openxmlformats.org/drawingml/2006/main">
            <a:r>
              <a:t>Repository snapshot: 26 September 2026. Implementation describes code and mappings. Screenshots show the current local application, with external hardware disconnected.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mappings/iot_map.json; actions/iot/handler.py; services/mqtt_service.py</a:t>
            </a:r>
          </a:p>
          <a:p xmlns:a="http://schemas.openxmlformats.org/drawingml/2006/main">
            <a:r>
              <a:t>Repository snapshot: 26 September 2026. Implementation describes code and mappings. Screenshots show the current local application, with external hardware disconnected.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actions/embedded/handler.py; mappings/embedded_map.json; services/workflow_service.py</a:t>
            </a:r>
          </a:p>
          <a:p xmlns:a="http://schemas.openxmlformats.org/drawingml/2006/main">
            <a:r>
              <a:t>Repository snapshot: 26 September 2026. Implementation describes code and mappings. Screenshots show the current local application, with external hardware disconnected.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mappings/workflow_map.json; actions/media_jiosaavn_mobile.py</a:t>
            </a:r>
          </a:p>
          <a:p xmlns:a="http://schemas.openxmlformats.org/drawingml/2006/main">
            <a:r>
              <a:t>Repository snapshot: 26 September 2026. Implementation describes code and mappings. Screenshots show the current local application, with external hardware disconnected.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services/mobile_mqtt_service.py; api/jiosaavn.py</a:t>
            </a:r>
          </a:p>
          <a:p xmlns:a="http://schemas.openxmlformats.org/drawingml/2006/main">
            <a:r>
              <a:t>Repository snapshot: 26 September 2026. Implementation describes code and mappings. Screenshots show the current local application, with external hardware disconnected.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cortex/service.py; cortex/auth.py; cortex/session.py; cortex/profile.py</a:t>
            </a:r>
          </a:p>
          <a:p xmlns:a="http://schemas.openxmlformats.org/drawingml/2006/main">
            <a:r>
              <a:t>Repository snapshot: 26 September 2026. Implementation describes code and mappings. Screenshots show the current local application, with external hardware disconnected.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templates/bci_panel.html; current screenshot</a:t>
            </a:r>
          </a:p>
          <a:p xmlns:a="http://schemas.openxmlformats.org/drawingml/2006/main">
            <a:r>
              <a:t>Repository snapshot: 26 September 2026. Implementation describes code and mappings. Screenshots show the current local application, with external hardware disconnected.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cortex/control.py; simulator/config.py</a:t>
            </a:r>
          </a:p>
          <a:p xmlns:a="http://schemas.openxmlformats.org/drawingml/2006/main">
            <a:r>
              <a:t>Repository snapshot: 26 September 2026. Implementation describes code and mappings. Screenshots show the current local application, with external hardware disconnected.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cortex/control.py; templates/bci_panel.html; static/bci-panel.js</a:t>
            </a:r>
          </a:p>
          <a:p xmlns:a="http://schemas.openxmlformats.org/drawingml/2006/main">
            <a:r>
              <a:t>Repository snapshot: 26 September 2026. Implementation describes code and mappings. Screenshots show the current local application, with external hardware disconnected.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core/devices.py; services/usb_service.py; artifacts/start_agent.py; README.md</a:t>
            </a:r>
          </a:p>
          <a:p xmlns:a="http://schemas.openxmlformats.org/drawingml/2006/main">
            <a:r>
              <a:t>Repository snapshot: 26 September 2026. Implementation describes code and mappings. Screenshots show the current local application, with external hardware disconnected.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templates/dashboard.html; current screenshot</a:t>
            </a:r>
          </a:p>
          <a:p xmlns:a="http://schemas.openxmlformats.org/drawingml/2006/main">
            <a:r>
              <a:t>Repository snapshot: 26 September 2026. Implementation describes code and mappings. Screenshots show the current local application, with external hardware disconnected.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core/metrics.py; services/manual_logger_service.py; services/bci_logger_service.py</a:t>
            </a:r>
          </a:p>
          <a:p xmlns:a="http://schemas.openxmlformats.org/drawingml/2006/main">
            <a:r>
              <a:t>Repository snapshot: 26 September 2026. Implementation describes code and mappings. Screenshots show the current local application, with external hardware disconnected.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api/routes.py; api/jiosaavn.py; cortex/dashboard.py</a:t>
            </a:r>
          </a:p>
          <a:p xmlns:a="http://schemas.openxmlformats.org/drawingml/2006/main">
            <a:r>
              <a:t>Repository snapshot: 26 September 2026. Implementation describes code and mappings. Screenshots show the current local application, with external hardware disconnected.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README.md; cortex/control.py; static/masterhub.js</a:t>
            </a:r>
          </a:p>
          <a:p xmlns:a="http://schemas.openxmlformats.org/drawingml/2006/main">
            <a:r>
              <a:t>Repository snapshot: 26 September 2026. Implementation describes code and mappings. Screenshots show the current local application, with external hardware disconnected.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tests/test_cortex_control.py; tests/; simulator/README.md</a:t>
            </a:r>
          </a:p>
          <a:p xmlns:a="http://schemas.openxmlformats.org/drawingml/2006/main">
            <a:r>
              <a:t>Repository snapshot: 26 September 2026. Implementation describes code and mappings. Screenshots show the current local application, with external hardware disconnected.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README.md; services/; cortex/; actions/</a:t>
            </a:r>
          </a:p>
          <a:p xmlns:a="http://schemas.openxmlformats.org/drawingml/2006/main">
            <a:r>
              <a:t>Repository snapshot: 26 September 2026. Implementation describes code and mappings. Screenshots show the current local application, with external hardware disconnected.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</a:t>
            </a:r>
          </a:p>
          <a:p xmlns:a="http://schemas.openxmlformats.org/drawingml/2006/main">
            <a:r>
              <a:t>Repository snapshot: 26 September 2026. Implementation describes code and mappings. Screenshots show the current local application, with external hardware disconnected.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</a:t>
            </a:r>
          </a:p>
          <a:p xmlns:a="http://schemas.openxmlformats.org/drawingml/2006/main">
            <a:r>
              <a:t>Repository snapshot: 26 September 2026. Implementation describes code and mappings. Screenshots show the current local application, with external hardware disconnected.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02b68eb42541d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705b5388c354ef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ec3ed4d19a994f0d" /></Relationships>
</file>

<file path=ppt/slideLayouts/slideLayout1.xml><?xml version="1.0" encoding="utf-8"?>
<p:sldLayout xmlns:p="http://schemas.openxmlformats.org/presentationml/2006/main" matchingName="Title Slid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48583" name="Google Shape;19;p6">
            <a:extLst xmlns:a="http://schemas.openxmlformats.org/drawingml/2006/main">
              <a:ext uri="{FF2B5EF4-FFF2-40B4-BE49-F238E27FC236}">
                <a16:creationId xmlns:a16="http://schemas.microsoft.com/office/drawing/2014/main" id="{4448134D-784E-4E0F-94D3-7A80DBB8C63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D8D8D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048584" name="Google Shape;20;p6">
            <a:extLst xmlns:a="http://schemas.openxmlformats.org/drawingml/2006/main">
              <a:ext uri="{FF2B5EF4-FFF2-40B4-BE49-F238E27FC236}">
                <a16:creationId xmlns:a16="http://schemas.microsoft.com/office/drawing/2014/main" id="{3D4FB406-CBD9-4C13-BD7C-D27F70E54E3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048585" name="Google Shape;21;p6">
            <a:extLst xmlns:a="http://schemas.openxmlformats.org/drawingml/2006/main">
              <a:ext uri="{FF2B5EF4-FFF2-40B4-BE49-F238E27FC236}">
                <a16:creationId xmlns:a16="http://schemas.microsoft.com/office/drawing/2014/main" id="{2C39911D-6CE0-4024-BCBC-18FCEFACC3F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Arial"/>
              <a:buNone/>
              <a:defRPr sz="1200" b="0" i="0" u="none" cap="none">
                <a:solidFill>
                  <a:srgbClr val="8D8D8D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Arial"/>
              <a:buNone/>
              <a:defRPr sz="1200" b="0" i="0" u="none" cap="none">
                <a:solidFill>
                  <a:srgbClr val="8D8D8D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Arial"/>
              <a:buNone/>
              <a:defRPr sz="1200" b="0" i="0" u="none" cap="none">
                <a:solidFill>
                  <a:srgbClr val="8D8D8D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Arial"/>
              <a:buNone/>
              <a:defRPr sz="1200" b="0" i="0" u="none" cap="none">
                <a:solidFill>
                  <a:srgbClr val="8D8D8D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Arial"/>
              <a:buNone/>
              <a:defRPr sz="1200" b="0" i="0" u="none" cap="none">
                <a:solidFill>
                  <a:srgbClr val="8D8D8D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Arial"/>
              <a:buNone/>
              <a:defRPr sz="1200" b="0" i="0" u="none" cap="none">
                <a:solidFill>
                  <a:srgbClr val="8D8D8D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Arial"/>
              <a:buNone/>
              <a:defRPr sz="1200" b="0" i="0" u="none" cap="none">
                <a:solidFill>
                  <a:srgbClr val="8D8D8D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Arial"/>
              <a:buNone/>
              <a:defRPr sz="1200" b="0" i="0" u="none" cap="none">
                <a:solidFill>
                  <a:srgbClr val="8D8D8D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Arial"/>
              <a:buNone/>
              <a:defRPr sz="1200" b="0" i="0" u="none" cap="none">
                <a:solidFill>
                  <a:srgbClr val="8D8D8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Title and Content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48597" name="Google Shape;36;p10">
            <a:extLst xmlns:a="http://schemas.openxmlformats.org/drawingml/2006/main">
              <a:ext uri="{FF2B5EF4-FFF2-40B4-BE49-F238E27FC236}">
                <a16:creationId xmlns:a16="http://schemas.microsoft.com/office/drawing/2014/main" id="{138198F4-CF28-427A-82BF-FE7BAF916F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33375" y="152400"/>
            <a:ext cx="8229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600" b="1">
                <a:solidFill>
                  <a:schemeClr val="lt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wo Content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jpeg" Id="R4dfe2c3c4d78447d" /><Relationship Type="http://schemas.openxmlformats.org/officeDocument/2006/relationships/theme" Target="/ppt/slideMasters/theme/theme2.xml" Id="R7579d2ef5e4c4839" /><Relationship Type="http://schemas.openxmlformats.org/officeDocument/2006/relationships/slideLayout" Target="/ppt/slideLayouts/slideLayout1.xml" Id="R188d681ca72648a9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image" Target="/ppt/media/image2.jpeg" Id="Rab676bfdafc1498d" /><Relationship Type="http://schemas.openxmlformats.org/officeDocument/2006/relationships/theme" Target="/ppt/slideMasters/theme/theme3.xml" Id="R78f89992e85c4c36" /><Relationship Type="http://schemas.openxmlformats.org/officeDocument/2006/relationships/slideLayout" Target="/ppt/slideLayouts/slideLayout2.xml" Id="R2fc4d89eff224ec5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image" Target="/ppt/media/image3.jpeg" Id="R6c073b9ce4fa4594" /><Relationship Type="http://schemas.openxmlformats.org/officeDocument/2006/relationships/theme" Target="/ppt/slideMasters/theme/theme4.xml" Id="R11711ff063754f2e" /><Relationship Type="http://schemas.openxmlformats.org/officeDocument/2006/relationships/slideLayout" Target="/ppt/slideLayouts/slideLayout3.xml" Id="Re9726d0398404c20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48584" name="Google Shape;10;p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dfe2c3c4d78447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48576" name="Google Shape;11;p5">
            <a:extLst xmlns:a="http://schemas.openxmlformats.org/drawingml/2006/main">
              <a:ext uri="{FF2B5EF4-FFF2-40B4-BE49-F238E27FC236}">
                <a16:creationId xmlns:a16="http://schemas.microsoft.com/office/drawing/2014/main" id="{63598E88-F1C4-4E25-BFCE-07546616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21450"/>
            <a:ext cx="4572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sz="7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© Copyrights 2018 HITAM. All rights reserved.</a:t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48577" name="Google Shape;12;p5">
            <a:extLst xmlns:a="http://schemas.openxmlformats.org/drawingml/2006/main">
              <a:ext uri="{FF2B5EF4-FFF2-40B4-BE49-F238E27FC236}">
                <a16:creationId xmlns:a16="http://schemas.microsoft.com/office/drawing/2014/main" id="{569AFE96-0612-4F36-B686-A4BFA6C57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1212" y="6521450"/>
            <a:ext cx="457200" cy="246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00"/>
              <a:buFont typeface="Arial"/>
              <a:buNone/>
            </a:pPr>
            <a:fld id="{00000000-1234-1234-1234-123412341234}" type="slidenum">
              <a:rPr sz="1000" b="0" i="0" u="none" cap="none">
                <a:solidFill>
                  <a:srgbClr val="3C3C3C"/>
                </a:solidFill>
                <a:latin typeface="Arial"/>
                <a:ea typeface="Arial"/>
                <a:cs typeface="Arial"/>
              </a:rPr>
              <a:t>‹#›</a:t>
            </a:fld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48578" name="Google Shape;13;p5">
            <a:extLst xmlns:a="http://schemas.openxmlformats.org/drawingml/2006/main">
              <a:ext uri="{FF2B5EF4-FFF2-40B4-BE49-F238E27FC236}">
                <a16:creationId xmlns:a16="http://schemas.microsoft.com/office/drawing/2014/main" id="{7BD1D6CE-F2D4-426F-AE70-A3913256A3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7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048579" name="Google Shape;14;p5">
            <a:extLst xmlns:a="http://schemas.openxmlformats.org/drawingml/2006/main">
              <a:ext uri="{FF2B5EF4-FFF2-40B4-BE49-F238E27FC236}">
                <a16:creationId xmlns:a16="http://schemas.microsoft.com/office/drawing/2014/main" id="{B6DE82AF-0C79-4CA3-B65D-1A7E745B64E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marR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048580" name="Google Shape;15;p5">
            <a:extLst xmlns:a="http://schemas.openxmlformats.org/drawingml/2006/main">
              <a:ext uri="{FF2B5EF4-FFF2-40B4-BE49-F238E27FC236}">
                <a16:creationId xmlns:a16="http://schemas.microsoft.com/office/drawing/2014/main" id="{DF889AA4-24E7-4614-BA2D-FA38D14DAFD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cap="none">
                <a:solidFill>
                  <a:srgbClr val="8D8D8D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048581" name="Google Shape;16;p5">
            <a:extLst xmlns:a="http://schemas.openxmlformats.org/drawingml/2006/main">
              <a:ext uri="{FF2B5EF4-FFF2-40B4-BE49-F238E27FC236}">
                <a16:creationId xmlns:a16="http://schemas.microsoft.com/office/drawing/2014/main" id="{AAAE321C-D17F-4BC0-B4E1-C9F919F5D72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048582" name="Google Shape;17;p5">
            <a:extLst xmlns:a="http://schemas.openxmlformats.org/drawingml/2006/main">
              <a:ext uri="{FF2B5EF4-FFF2-40B4-BE49-F238E27FC236}">
                <a16:creationId xmlns:a16="http://schemas.microsoft.com/office/drawing/2014/main" id="{FBE13D64-6B02-45A2-81D3-55483A9D47A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Arial"/>
              <a:buNone/>
              <a:defRPr sz="1200" b="0" i="0" u="none" cap="none">
                <a:solidFill>
                  <a:srgbClr val="8D8D8D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Arial"/>
              <a:buNone/>
              <a:defRPr sz="1200" b="0" i="0" u="none" cap="none">
                <a:solidFill>
                  <a:srgbClr val="8D8D8D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Arial"/>
              <a:buNone/>
              <a:defRPr sz="1200" b="0" i="0" u="none" cap="none">
                <a:solidFill>
                  <a:srgbClr val="8D8D8D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Arial"/>
              <a:buNone/>
              <a:defRPr sz="1200" b="0" i="0" u="none" cap="none">
                <a:solidFill>
                  <a:srgbClr val="8D8D8D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Arial"/>
              <a:buNone/>
              <a:defRPr sz="1200" b="0" i="0" u="none" cap="none">
                <a:solidFill>
                  <a:srgbClr val="8D8D8D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Arial"/>
              <a:buNone/>
              <a:defRPr sz="1200" b="0" i="0" u="none" cap="none">
                <a:solidFill>
                  <a:srgbClr val="8D8D8D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Arial"/>
              <a:buNone/>
              <a:defRPr sz="1200" b="0" i="0" u="none" cap="none">
                <a:solidFill>
                  <a:srgbClr val="8D8D8D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Arial"/>
              <a:buNone/>
              <a:defRPr sz="1200" b="0" i="0" u="none" cap="none">
                <a:solidFill>
                  <a:srgbClr val="8D8D8D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1200"/>
              <a:buFont typeface="Arial"/>
              <a:buNone/>
              <a:defRPr sz="1200" b="0" i="0" u="none" cap="none">
                <a:solidFill>
                  <a:srgbClr val="8D8D8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8d681ca72648a9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48598" name="Google Shape;30;p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b676bfdafc1498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48593" name="Google Shape;31;p9">
            <a:extLst xmlns:a="http://schemas.openxmlformats.org/drawingml/2006/main">
              <a:ext uri="{FF2B5EF4-FFF2-40B4-BE49-F238E27FC236}">
                <a16:creationId xmlns:a16="http://schemas.microsoft.com/office/drawing/2014/main" id="{795B0B1B-CE47-413F-A04E-F132C481B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21450"/>
            <a:ext cx="4572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sz="7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© Copyrights 2018 HITAM. All rights reserved.</a:t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48594" name="Google Shape;32;p9">
            <a:extLst xmlns:a="http://schemas.openxmlformats.org/drawingml/2006/main">
              <a:ext uri="{FF2B5EF4-FFF2-40B4-BE49-F238E27FC236}">
                <a16:creationId xmlns:a16="http://schemas.microsoft.com/office/drawing/2014/main" id="{1C3FB347-0F4C-4235-99A3-4AFA86295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1212" y="6521450"/>
            <a:ext cx="457200" cy="246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00"/>
              <a:buFont typeface="Arial"/>
              <a:buNone/>
            </a:pPr>
            <a:fld id="{00000000-1234-1234-1234-123412341234}" type="slidenum">
              <a:rPr sz="1000" b="0" i="0" u="none" cap="none">
                <a:solidFill>
                  <a:srgbClr val="3C3C3C"/>
                </a:solidFill>
                <a:latin typeface="Arial"/>
                <a:ea typeface="Arial"/>
                <a:cs typeface="Arial"/>
              </a:rPr>
              <a:t>‹#›</a:t>
            </a:fld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48595" name="Google Shape;33;p9">
            <a:extLst xmlns:a="http://schemas.openxmlformats.org/drawingml/2006/main">
              <a:ext uri="{FF2B5EF4-FFF2-40B4-BE49-F238E27FC236}">
                <a16:creationId xmlns:a16="http://schemas.microsoft.com/office/drawing/2014/main" id="{3E2A8522-C6B4-4454-97BA-F888D3CB73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7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048596" name="Google Shape;34;p9">
            <a:extLst xmlns:a="http://schemas.openxmlformats.org/drawingml/2006/main">
              <a:ext uri="{FF2B5EF4-FFF2-40B4-BE49-F238E27FC236}">
                <a16:creationId xmlns:a16="http://schemas.microsoft.com/office/drawing/2014/main" id="{9FB4C919-66A4-4883-BC3E-08BF0422F76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marR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2fc4d89eff224ec5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48636" name="Google Shape;38;p1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c073b9ce4fa459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48631" name="Google Shape;39;p11">
            <a:extLst xmlns:a="http://schemas.openxmlformats.org/drawingml/2006/main">
              <a:ext uri="{FF2B5EF4-FFF2-40B4-BE49-F238E27FC236}">
                <a16:creationId xmlns:a16="http://schemas.microsoft.com/office/drawing/2014/main" id="{5B9FAA01-A863-4F54-A28D-2E558059D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21450"/>
            <a:ext cx="4572000" cy="2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sz="7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© Copyrights 2018 HITAM. All rights reserved.</a:t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48632" name="Google Shape;40;p11">
            <a:extLst xmlns:a="http://schemas.openxmlformats.org/drawingml/2006/main">
              <a:ext uri="{FF2B5EF4-FFF2-40B4-BE49-F238E27FC236}">
                <a16:creationId xmlns:a16="http://schemas.microsoft.com/office/drawing/2014/main" id="{F231D2EC-9E31-44BB-8287-2F86AF6EC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1212" y="6521450"/>
            <a:ext cx="457200" cy="24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000"/>
              <a:buFont typeface="Arial"/>
              <a:buNone/>
            </a:pPr>
            <a:fld id="{00000000-1234-1234-1234-123412341234}" type="slidenum">
              <a:rPr sz="1000" b="0" i="0" u="none" cap="none">
                <a:solidFill>
                  <a:srgbClr val="3C3C3C"/>
                </a:solidFill>
                <a:latin typeface="Arial"/>
                <a:ea typeface="Arial"/>
                <a:cs typeface="Arial"/>
              </a:rPr>
              <a:t>‹#›</a:t>
            </a:fld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48633" name="Google Shape;41;p11">
            <a:extLst xmlns:a="http://schemas.openxmlformats.org/drawingml/2006/main">
              <a:ext uri="{FF2B5EF4-FFF2-40B4-BE49-F238E27FC236}">
                <a16:creationId xmlns:a16="http://schemas.microsoft.com/office/drawing/2014/main" id="{FEED1A24-C21A-4164-BC3C-702E26CD57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7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048634" name="Google Shape;42;p11">
            <a:extLst xmlns:a="http://schemas.openxmlformats.org/drawingml/2006/main">
              <a:ext uri="{FF2B5EF4-FFF2-40B4-BE49-F238E27FC236}">
                <a16:creationId xmlns:a16="http://schemas.microsoft.com/office/drawing/2014/main" id="{4CE4D914-FC34-4087-8250-6BBFF60D139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marR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53" r:id="Re9726d0398404c20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1_Office Theme">
  <a:themeElements>
    <a:clrScheme name="HITAM1">
      <a:dk1>
        <a:srgbClr val="262626"/>
      </a:dk1>
      <a:lt1>
        <a:srgbClr val="FFFFFF"/>
      </a:lt1>
      <a:dk2>
        <a:srgbClr val="1F497D"/>
      </a:dk2>
      <a:lt2>
        <a:srgbClr val="EEECE1"/>
      </a:lt2>
      <a:accent1>
        <a:srgbClr val="2B7D1D"/>
      </a:accent1>
      <a:accent2>
        <a:srgbClr val="7CD14B"/>
      </a:accent2>
      <a:accent3>
        <a:srgbClr val="9BBB59"/>
      </a:accent3>
      <a:accent4>
        <a:srgbClr val="FFDD00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ITAM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2_Office Theme">
  <a:themeElements>
    <a:clrScheme name="HITAM1">
      <a:dk1>
        <a:srgbClr val="262626"/>
      </a:dk1>
      <a:lt1>
        <a:srgbClr val="FFFFFF"/>
      </a:lt1>
      <a:dk2>
        <a:srgbClr val="358AF3"/>
      </a:dk2>
      <a:lt2>
        <a:srgbClr val="EEECE1"/>
      </a:lt2>
      <a:accent1>
        <a:srgbClr val="2B7D1D"/>
      </a:accent1>
      <a:accent2>
        <a:srgbClr val="7CD14B"/>
      </a:accent2>
      <a:accent3>
        <a:srgbClr val="9BBB59"/>
      </a:accent3>
      <a:accent4>
        <a:srgbClr val="FFDD00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ITAM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4.xml><?xml version="1.0" encoding="utf-8"?>
<a:theme xmlns:a="http://schemas.openxmlformats.org/drawingml/2006/main" name="4_Office Theme">
  <a:themeElements>
    <a:clrScheme name="HITAM1">
      <a:dk1>
        <a:srgbClr val="262626"/>
      </a:dk1>
      <a:lt1>
        <a:srgbClr val="FFFFFF"/>
      </a:lt1>
      <a:dk2>
        <a:srgbClr val="1F497D"/>
      </a:dk2>
      <a:lt2>
        <a:srgbClr val="EEECE1"/>
      </a:lt2>
      <a:accent1>
        <a:srgbClr val="2B7D1D"/>
      </a:accent1>
      <a:accent2>
        <a:srgbClr val="7CD14B"/>
      </a:accent2>
      <a:accent3>
        <a:srgbClr val="9BBB59"/>
      </a:accent3>
      <a:accent4>
        <a:srgbClr val="FFDD00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ITAM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d8ef54eb2e4bfa" /><Relationship Type="http://schemas.openxmlformats.org/officeDocument/2006/relationships/notesSlide" Target="/ppt/notesSlides/notesSlide1.xml" Id="R1a9c2d3740d54cd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eb0b15cf9904fa3" /><Relationship Type="http://schemas.openxmlformats.org/officeDocument/2006/relationships/notesSlide" Target="/ppt/notesSlides/notesSlide2.xml" Id="Rdc02faed5c2f4a1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04f22451a2448a8" /><Relationship Type="http://schemas.openxmlformats.org/officeDocument/2006/relationships/notesSlide" Target="/ppt/notesSlides/notesSlide3.xml" Id="Re1a3b7865a7f46d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0caaa48cc92417f" /><Relationship Type="http://schemas.openxmlformats.org/officeDocument/2006/relationships/notesSlide" Target="/ppt/notesSlides/notesSlide4.xml" Id="R20ce551b26084c6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76b26fde6a64d74" /><Relationship Type="http://schemas.openxmlformats.org/officeDocument/2006/relationships/notesSlide" Target="/ppt/notesSlides/notesSlide5.xml" Id="Rfc03510374074cf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7e3997fbda44c34" /><Relationship Type="http://schemas.openxmlformats.org/officeDocument/2006/relationships/notesSlide" Target="/ppt/notesSlides/notesSlide6.xml" Id="R403d89f4e9a145b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6f010dbc9b54211" /><Relationship Type="http://schemas.openxmlformats.org/officeDocument/2006/relationships/notesSlide" Target="/ppt/notesSlides/notesSlide7.xml" Id="Ra5f50176023c425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46b25d6c6344cf1" /><Relationship Type="http://schemas.openxmlformats.org/officeDocument/2006/relationships/image" Target="/ppt/media/image.png" Id="R8b54424af0514ded" /><Relationship Type="http://schemas.openxmlformats.org/officeDocument/2006/relationships/notesSlide" Target="/ppt/notesSlides/notesSlide8.xml" Id="Ref98fe716532402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28beb68b25643df" /><Relationship Type="http://schemas.openxmlformats.org/officeDocument/2006/relationships/notesSlide" Target="/ppt/notesSlides/notesSlide9.xml" Id="R05bebb0cfe924bb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606346cd846438f" /><Relationship Type="http://schemas.openxmlformats.org/officeDocument/2006/relationships/notesSlide" Target="/ppt/notesSlides/notesSlide10.xml" Id="R14ebeda400e0449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aac7c7abdf34f16" /><Relationship Type="http://schemas.openxmlformats.org/officeDocument/2006/relationships/notesSlide" Target="/ppt/notesSlides/notesSlide11.xml" Id="R8a07c22eed924a4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1bbb063e01e4830" /><Relationship Type="http://schemas.openxmlformats.org/officeDocument/2006/relationships/image" Target="/ppt/media/image2.png" Id="R6c8ec04ca723493a" /><Relationship Type="http://schemas.openxmlformats.org/officeDocument/2006/relationships/notesSlide" Target="/ppt/notesSlides/notesSlide12.xml" Id="Rc8ec380f701b43f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46387338f2a454e" /><Relationship Type="http://schemas.openxmlformats.org/officeDocument/2006/relationships/image" Target="/ppt/media/image3.png" Id="Re7d016abe6d94540" /><Relationship Type="http://schemas.openxmlformats.org/officeDocument/2006/relationships/notesSlide" Target="/ppt/notesSlides/notesSlide13.xml" Id="Rb46c65f0c06f4c7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787860485cb4c72" /><Relationship Type="http://schemas.openxmlformats.org/officeDocument/2006/relationships/notesSlide" Target="/ppt/notesSlides/notesSlide14.xml" Id="Raa3b3bf820ae4d1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ed234e3b0cc4529" /><Relationship Type="http://schemas.openxmlformats.org/officeDocument/2006/relationships/image" Target="/ppt/media/image4.png" Id="R4312927f33994687" /><Relationship Type="http://schemas.openxmlformats.org/officeDocument/2006/relationships/notesSlide" Target="/ppt/notesSlides/notesSlide15.xml" Id="R0f144bc01778425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cf92b4410b54e0a" /><Relationship Type="http://schemas.openxmlformats.org/officeDocument/2006/relationships/notesSlide" Target="/ppt/notesSlides/notesSlide16.xml" Id="R0f31310554954c2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682148f2c4f4d98" /><Relationship Type="http://schemas.openxmlformats.org/officeDocument/2006/relationships/notesSlide" Target="/ppt/notesSlides/notesSlide17.xml" Id="R61daf445fbaa406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e1524d4b1dc40ac" /><Relationship Type="http://schemas.openxmlformats.org/officeDocument/2006/relationships/notesSlide" Target="/ppt/notesSlides/notesSlide18.xml" Id="Rc880df2a1b5f4c1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925a6f468434a86" /><Relationship Type="http://schemas.openxmlformats.org/officeDocument/2006/relationships/notesSlide" Target="/ppt/notesSlides/notesSlide19.xml" Id="R4e6722d8f2254f5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8b6b568d2cc4deb" /><Relationship Type="http://schemas.openxmlformats.org/officeDocument/2006/relationships/notesSlide" Target="/ppt/notesSlides/notesSlide20.xml" Id="R5902c9c6ec5b4aa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7ad671ddddb4a4c" /><Relationship Type="http://schemas.openxmlformats.org/officeDocument/2006/relationships/image" Target="/ppt/media/image5.png" Id="Rd700dc481e9d4bca" /><Relationship Type="http://schemas.openxmlformats.org/officeDocument/2006/relationships/notesSlide" Target="/ppt/notesSlides/notesSlide21.xml" Id="R121ca11f22af40b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0c70c17b485493d" /><Relationship Type="http://schemas.openxmlformats.org/officeDocument/2006/relationships/notesSlide" Target="/ppt/notesSlides/notesSlide22.xml" Id="R20f24f7aa5b442c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62fd87321e8407f" /><Relationship Type="http://schemas.openxmlformats.org/officeDocument/2006/relationships/notesSlide" Target="/ppt/notesSlides/notesSlide23.xml" Id="R508bbeb182cf44b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fb13398e4224fd3" /><Relationship Type="http://schemas.openxmlformats.org/officeDocument/2006/relationships/notesSlide" Target="/ppt/notesSlides/notesSlide24.xml" Id="R483b57f37d1642a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a4835eb706f4307" /><Relationship Type="http://schemas.openxmlformats.org/officeDocument/2006/relationships/image" Target="/ppt/media/image6.png" Id="Ra9c876d30d1a4d90" /><Relationship Type="http://schemas.openxmlformats.org/officeDocument/2006/relationships/notesSlide" Target="/ppt/notesSlides/notesSlide25.xml" Id="Rbab1c749610d4cc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ca9a918c12f4b52" /><Relationship Type="http://schemas.openxmlformats.org/officeDocument/2006/relationships/notesSlide" Target="/ppt/notesSlides/notesSlide26.xml" Id="R735e0e0a77874f2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a2094efc9784324" /><Relationship Type="http://schemas.openxmlformats.org/officeDocument/2006/relationships/notesSlide" Target="/ppt/notesSlides/notesSlide27.xml" Id="R0b02f702cf634e8f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4d7375095af40a3" /><Relationship Type="http://schemas.openxmlformats.org/officeDocument/2006/relationships/notesSlide" Target="/ppt/notesSlides/notesSlide28.xml" Id="Rc8e50848885c433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525bc268d034fba" /><Relationship Type="http://schemas.openxmlformats.org/officeDocument/2006/relationships/notesSlide" Target="/ppt/notesSlides/notesSlide29.xml" Id="R61f2d3ab82864e04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920b50cd7ea4658" /><Relationship Type="http://schemas.openxmlformats.org/officeDocument/2006/relationships/notesSlide" Target="/ppt/notesSlides/notesSlide30.xml" Id="R0c96525215344c75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a7bc2ca534a4a99" /><Relationship Type="http://schemas.openxmlformats.org/officeDocument/2006/relationships/notesSlide" Target="/ppt/notesSlides/notesSlide31.xml" Id="R0778ce19d3774917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ecc8adb4a0b4d5f" /><Relationship Type="http://schemas.openxmlformats.org/officeDocument/2006/relationships/notesSlide" Target="/ppt/notesSlides/notesSlide32.xml" Id="Rd3c20849cba64bd9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a5551adc24a4da7" /><Relationship Type="http://schemas.openxmlformats.org/officeDocument/2006/relationships/notesSlide" Target="/ppt/notesSlides/notesSlide33.xml" Id="R25a2c6e4adaf49c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5FC26A75-9943-4AC2-AC1F-493508B80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79" y="640080"/>
            <a:ext cx="6629401" cy="7078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t>HYDERABAD INSTITUTE OF</a:t>
            </a:r>
            <a:r>
              <a:t> </a:t>
            </a:r>
            <a:r>
              <a:t>TECHNOLOGY AND MANAGEMENT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82D8275-F2B5-4507-9728-447704A2F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33575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MASTERHUB</a:t>
            </a:r>
            <a:endParaRPr>
              <a:solidFill>
                <a:schemeClr val="bg2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algn="ctr">
              <a:buNone/>
              <a:defRPr sz="25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IMPLEMENTATION REVIEW</a:t>
            </a:r>
            <a:endParaRPr>
              <a:solidFill>
                <a:schemeClr val="bg2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66D84DA-C7E7-4190-99E6-2CFE66F44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996" y="3555630"/>
            <a:ext cx="4457946" cy="9694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INTERNSHIP PROJECT REVIEW</a:t>
            </a:r>
            <a:endParaRPr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>
              <a:buNone/>
              <a:defRPr sz="1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 NOUSHITH – 24E51A0451</a:t>
            </a:r>
          </a:p>
          <a:p xmlns:a="http://schemas.openxmlformats.org/drawingml/2006/main">
            <a:pPr>
              <a:buNone/>
              <a:defRPr sz="1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B58911E-3F41-4173-8350-B4A14B765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184815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BCI  /  IoT  /  Desktop  /  Embedded Mobility  /  Media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88F4765-F56E-4F8D-BD5D-1F1CA90B2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79" y="5413415"/>
            <a:ext cx="8046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CURRENT IMPLEMENTATION  / 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44625371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A39C76-0A3F-4320-956E-18F89A306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"/>
            <a:ext cx="7029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PRESENTATION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44057F-46F1-46DE-A39C-9E885750B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4674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F5899B-AC12-4383-8A36-7BD6AD816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238250"/>
            <a:ext cx="7429500" cy="452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7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Project background and current implementation scope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7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Architecture, state machine and gesture navigation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7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Desktop, IoT, mobility and media workflows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7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Cortex BCI connection and temporal control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7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Current dashboard, connectivity and diagnostics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7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Implemented outputs, test coverage and next steps</a:t>
            </a:r>
          </a:p>
        </p:txBody>
      </p:sp>
    </p:spTree>
    <p:extLst>
      <p:ext uri="{BB962C8B-B14F-4D97-AF65-F5344CB8AC3E}">
        <p14:creationId xmlns:p14="http://schemas.microsoft.com/office/powerpoint/2010/main" val="415710029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C89628-D418-4C92-BCA2-1BB50BC8B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"/>
            <a:ext cx="7029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ABSTRACT AND PROJECT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0D790B-62BE-4BD9-9AF4-60CEAC217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4674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854090-028F-4BDC-B4B6-E374CB9E1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10490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7F4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46"/>
                </a:solidFill>
                <a:latin typeface="Arial"/>
                <a:ea typeface="Arial"/>
                <a:cs typeface="Arial"/>
              </a:rPr>
              <a:t>One control hub for multiple execution domains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5F420B-203C-4DD2-9444-BC83874F3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33550"/>
            <a:ext cx="7381875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MasterHub accepts browser controls, arrow keys, API commands and classified mental commands from EMOTIV Cortex.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The Flask application maintains context, resolves command mappings and dispatches actions through dedicated handlers.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The current project connects desktop applications, IoT relay devices, mobility hardware and desktop or mobile media workflows.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The original IoT work remains part of the wider SynaptiMesh project.</a:t>
            </a:r>
          </a:p>
        </p:txBody>
      </p:sp>
    </p:spTree>
    <p:extLst>
      <p:ext uri="{BB962C8B-B14F-4D97-AF65-F5344CB8AC3E}">
        <p14:creationId xmlns:p14="http://schemas.microsoft.com/office/powerpoint/2010/main" val="415710029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155D2A-F7C5-4A11-8F2F-4ABF5A69D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"/>
            <a:ext cx="7029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ORIGINAL PROJECT AND CURRENT MASTERHUB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236F26-DB46-47EA-8AE5-ABB428EFB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4674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6284CE-AE79-4181-8E2B-5A7AB346C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2382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F4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F46"/>
                </a:solidFill>
                <a:latin typeface="Arial"/>
                <a:ea typeface="Arial"/>
                <a:cs typeface="Arial"/>
              </a:rPr>
              <a:t>Previous presentation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9481E7-3172-46FA-848F-DA61B284C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2382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F4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F46"/>
                </a:solidFill>
                <a:latin typeface="Arial"/>
                <a:ea typeface="Arial"/>
                <a:cs typeface="Arial"/>
              </a:rPr>
              <a:t>Current repository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088F4A-72C7-448E-B893-EA5119680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62125"/>
            <a:ext cx="3286125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ESP32 gateway and Arduino Nano sensing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LoRa communication and relay control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Light, fan, pump and audio outputs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MQTT integration and command acknowledgements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7C3815-EA9D-4706-8CDA-7CDC48EB2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62125"/>
            <a:ext cx="3286125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Four control domains in one dashboard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17 FSM modes and 98 command routes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Cortex profiles, streaming and mental control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Remote PC, UART and mobile media integration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3D7954-B09A-48AC-8301-8997DA0B4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743575"/>
            <a:ext cx="7381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55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57"/>
                </a:solidFill>
                <a:latin typeface="Arial"/>
                <a:ea typeface="Arial"/>
                <a:cs typeface="Arial"/>
              </a:rPr>
              <a:t>The previous deck records earlier hardware work. Current screenshots document the software interface.</a:t>
            </a:r>
          </a:p>
        </p:txBody>
      </p:sp>
    </p:spTree>
    <p:extLst>
      <p:ext uri="{BB962C8B-B14F-4D97-AF65-F5344CB8AC3E}">
        <p14:creationId xmlns:p14="http://schemas.microsoft.com/office/powerpoint/2010/main" val="415710029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CDC59F-76C4-4F0B-87F5-6686270B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"/>
            <a:ext cx="7029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MOTIVATION AND OBJECTIVES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F9F293-A2E9-48CB-B1D5-71BF2707D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4674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DA607F-8ECB-4A84-98A3-7061E8649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10490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7F4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46"/>
                </a:solidFill>
                <a:latin typeface="Arial"/>
                <a:ea typeface="Arial"/>
                <a:cs typeface="Arial"/>
              </a:rPr>
              <a:t>A consistent workflow across different targets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FD92E4-5AAA-4021-B0A4-6E0EFD25E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7381875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7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Reduce separate control interfaces for desktop applications and physical devices.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7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Reuse a small mental-command vocabulary through context-sensitive menus.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7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Expose the active domain, device, target and pending command before execution.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7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Track connection state and command feedback for troubleshooting.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7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Keep hardware transport, command mappings and application actions modular.</a:t>
            </a:r>
          </a:p>
        </p:txBody>
      </p:sp>
    </p:spTree>
    <p:extLst>
      <p:ext uri="{BB962C8B-B14F-4D97-AF65-F5344CB8AC3E}">
        <p14:creationId xmlns:p14="http://schemas.microsoft.com/office/powerpoint/2010/main" val="415710029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2709CA-7D0B-4D16-9BF5-EB15D952F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"/>
            <a:ext cx="7029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CURRENT IMPLEMENTATION INVENTORY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E77BB6-122A-4E31-8F13-5A637D656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4674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AB1049-F2FF-414E-950E-5B31F097C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76375"/>
            <a:ext cx="1619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87F46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87F4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4628E5-3418-4E1B-AF73-B8D9C33DE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33625"/>
            <a:ext cx="1666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5332B"/>
                </a:solidFill>
                <a:latin typeface="Arial"/>
                <a:ea typeface="Arial"/>
                <a:cs typeface="Arial"/>
              </a:rPr>
              <a:t>Control domains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8499B8-7B5B-4993-812A-8E573F279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1476375"/>
            <a:ext cx="1619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87F46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87F4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DCC067-A8F3-4510-8B8A-8CE647B5D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333625"/>
            <a:ext cx="1666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5332B"/>
                </a:solidFill>
                <a:latin typeface="Arial"/>
                <a:ea typeface="Arial"/>
                <a:cs typeface="Arial"/>
              </a:rPr>
              <a:t>Workflow targets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82F3A0-35BB-4BA6-9AD7-651F6BD1B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1476375"/>
            <a:ext cx="1619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87F46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87F46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049ADB-F922-48DF-9C0C-E26C4F1F2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333625"/>
            <a:ext cx="1666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5332B"/>
                </a:solidFill>
                <a:latin typeface="Arial"/>
                <a:ea typeface="Arial"/>
                <a:cs typeface="Arial"/>
              </a:rPr>
              <a:t>FSM modes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07BFAD-80A0-438B-A6DA-D301C2723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1476375"/>
            <a:ext cx="1619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87F46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87F46"/>
                </a:solidFill>
                <a:latin typeface="Arial"/>
                <a:ea typeface="Arial"/>
                <a:cs typeface="Arial"/>
              </a:rPr>
              <a:t>98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7DC8CB-E2F4-4623-9C14-E6C6A7B3B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333625"/>
            <a:ext cx="1666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5332B"/>
                </a:solidFill>
                <a:latin typeface="Arial"/>
                <a:ea typeface="Arial"/>
                <a:cs typeface="Arial"/>
              </a:rPr>
              <a:t>Command routes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1D4CD2-71E0-4440-99EC-952C08EA7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619500"/>
            <a:ext cx="73818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23 IoT payload mappings include relay actions and firmware maintenance commands.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JSON definitions drive domain navigation and command choices.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Counts describe implemented mappings, not the number of physically connected devices.</a:t>
            </a:r>
          </a:p>
        </p:txBody>
      </p:sp>
    </p:spTree>
    <p:extLst>
      <p:ext uri="{BB962C8B-B14F-4D97-AF65-F5344CB8AC3E}">
        <p14:creationId xmlns:p14="http://schemas.microsoft.com/office/powerpoint/2010/main" val="415710029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A27518-B271-4D14-B9CE-670FF418C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"/>
            <a:ext cx="7029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OVERALL SOFTWARE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FA674C-5C83-4BEF-B0FD-9ED930095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4674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3D5454-0E9F-41A7-B33F-F515386E6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10490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7F4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46"/>
                </a:solidFill>
                <a:latin typeface="Arial"/>
                <a:ea typeface="Arial"/>
                <a:cs typeface="Arial"/>
              </a:rPr>
              <a:t>Input, decision and execution layers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4095CD-FDDD-4126-82FB-D51E63981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7381875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Input: dashboard, keyboard, REST clients and Cortex mental-command stream.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Decision: input normalization, FSM context, temporal framing and command validation.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Routing: command_map.json selects the execution domain and action identifier.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Execution: application handlers, hardware MQTT, USB serial and mobile MQTT.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Feedback: state snapshots, command outcomes, metrics, logs and device presence.</a:t>
            </a:r>
          </a:p>
        </p:txBody>
      </p:sp>
    </p:spTree>
    <p:extLst>
      <p:ext uri="{BB962C8B-B14F-4D97-AF65-F5344CB8AC3E}">
        <p14:creationId xmlns:p14="http://schemas.microsoft.com/office/powerpoint/2010/main" val="415710029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3CDD2D-4A83-4B32-A1E7-CF67B3043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"/>
            <a:ext cx="7029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CURRENT DASHBOARD: MAIN CONSOLE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A9B836-8A71-40FF-B4A1-012479F2B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4674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54424af0514ded"/>
          <a:stretch xmlns:a="http://schemas.openxmlformats.org/drawingml/2006/main"/>
        </p:blipFill>
        <p:spPr>
          <a:xfrm xmlns:a="http://schemas.openxmlformats.org/drawingml/2006/main">
            <a:off x="1372341" y="981075"/>
            <a:ext cx="6399318" cy="46672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158FD8-B304-4191-9862-44D813702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743575"/>
            <a:ext cx="7381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55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57"/>
                </a:solidFill>
                <a:latin typeface="Arial"/>
                <a:ea typeface="Arial"/>
                <a:cs typeface="Arial"/>
              </a:rPr>
              <a:t>Current local capture. MQTT, USB and BCI show their actual disconnected state.</a:t>
            </a:r>
          </a:p>
        </p:txBody>
      </p:sp>
    </p:spTree>
    <p:extLst>
      <p:ext uri="{BB962C8B-B14F-4D97-AF65-F5344CB8AC3E}">
        <p14:creationId xmlns:p14="http://schemas.microsoft.com/office/powerpoint/2010/main" val="415710029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CD1616-0549-4131-B589-75384570C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"/>
            <a:ext cx="7029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DOMAIN, DEVICE AND COMMAND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F1EC45-F433-48B9-B7E6-D23C1E8A6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4674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4FE68C-E3B7-48E9-A90F-415425301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10490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7F4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46"/>
                </a:solidFill>
                <a:latin typeface="Arial"/>
                <a:ea typeface="Arial"/>
                <a:cs typeface="Arial"/>
              </a:rPr>
              <a:t>Three phases share the same state machine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19B905-D97D-42AA-827D-F46DF604B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7381875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Domain selection: Desktop, Embedded Mobility, IoT Smart Home or AI/ML &amp; Media.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Device selection: an application, smart-home output, mobility device or media target.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Command execution: choose an action and supply any required parameters.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Push + Right returns to the previous menu. Push + Left returns to the main menu.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The same gesture has different meanings in different modes.</a:t>
            </a:r>
          </a:p>
        </p:txBody>
      </p:sp>
    </p:spTree>
    <p:extLst>
      <p:ext uri="{BB962C8B-B14F-4D97-AF65-F5344CB8AC3E}">
        <p14:creationId xmlns:p14="http://schemas.microsoft.com/office/powerpoint/2010/main" val="415710029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94533C-2B58-4121-BAEE-BC1F03693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"/>
            <a:ext cx="7029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GESTURE VOCABULARY AND TIMING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1FA8AC-CD15-4061-970A-14A7CEBB7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4674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98A5CE-A270-4D7C-A856-C872703CD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2382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F4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F46"/>
                </a:solidFill>
                <a:latin typeface="Arial"/>
                <a:ea typeface="Arial"/>
                <a:cs typeface="Arial"/>
              </a:rPr>
              <a:t>Navigation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570648-7CAF-44F8-A09C-BCA3B210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2382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F4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F46"/>
                </a:solidFill>
                <a:latin typeface="Arial"/>
                <a:ea typeface="Arial"/>
                <a:cs typeface="Arial"/>
              </a:rPr>
              <a:t>Timing behavior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83BF47-8BD0-44AE-A685-EE74C4148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62125"/>
            <a:ext cx="3286125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Push: Desktop at the main menu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Pull: Embedded Mobility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Left: IoT Smart Home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Right: AI/ML &amp; Media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Ordered pairs provide additional commands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8B5475-2145-412E-BB76-0A6519E56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62125"/>
            <a:ext cx="3286125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Default window: 4 seconds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Configuration range: 2–10 seconds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Dashboard actions: preview and countdown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Manual command pairs: immediate dispatch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Live BCI pairs: original deadline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8DA6C8-1486-4BCB-B8FB-153609271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743575"/>
            <a:ext cx="7381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55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57"/>
                </a:solidFill>
                <a:latin typeface="Arial"/>
                <a:ea typeface="Arial"/>
                <a:cs typeface="Arial"/>
              </a:rPr>
              <a:t>Direct /api/command requests do not automatically use the browser framing delay.</a:t>
            </a:r>
          </a:p>
        </p:txBody>
      </p:sp>
    </p:spTree>
    <p:extLst>
      <p:ext uri="{BB962C8B-B14F-4D97-AF65-F5344CB8AC3E}">
        <p14:creationId xmlns:p14="http://schemas.microsoft.com/office/powerpoint/2010/main" val="415710029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EBFD9A-E6D6-4099-9D88-8BAE753E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"/>
            <a:ext cx="7029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DESKTOP DOMAIN: APPLICATION WORKFLOWS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99EBD1-CCA9-4DEE-96C3-56602A731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4674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94655C-FFC1-4E7A-9475-48426F3B3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10490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7F4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46"/>
                </a:solidFill>
                <a:latin typeface="Arial"/>
                <a:ea typeface="Arial"/>
                <a:cs typeface="Arial"/>
              </a:rPr>
              <a:t>Four application workflows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991345-0EA6-40EF-A2DA-AD250081B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7381875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YouTube: previous video, next video, play/pause and search/play.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Chrome: open an article, scroll up or down and Google search.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Notepad: open the application and save a file through mapped commands.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Gmail: compose with recipient, subject and body, then send through a separate command.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Application handlers use the selected Local Host or compatible remote target.</a:t>
            </a:r>
          </a:p>
        </p:txBody>
      </p:sp>
    </p:spTree>
    <p:extLst>
      <p:ext uri="{BB962C8B-B14F-4D97-AF65-F5344CB8AC3E}">
        <p14:creationId xmlns:p14="http://schemas.microsoft.com/office/powerpoint/2010/main" val="415710029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552425-16CA-4D47-877D-A1E10F1B8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"/>
            <a:ext cx="7029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CURRENT DESKTOP AND TARGET SELECTION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E7C0F0-31B6-4387-98F1-33AE91FBA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4674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8ec04ca723493a"/>
          <a:stretch xmlns:a="http://schemas.openxmlformats.org/drawingml/2006/main"/>
        </p:blipFill>
        <p:spPr>
          <a:xfrm xmlns:a="http://schemas.openxmlformats.org/drawingml/2006/main">
            <a:off x="1001554" y="1000125"/>
            <a:ext cx="7140893" cy="46672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CAF2A9-0C66-4C8D-91CE-DC90ED345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743575"/>
            <a:ext cx="7381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55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57"/>
                </a:solidFill>
                <a:latin typeface="Arial"/>
                <a:ea typeface="Arial"/>
                <a:cs typeface="Arial"/>
              </a:rPr>
              <a:t>The PC Agent Controller separates target selection from the application menu.</a:t>
            </a:r>
          </a:p>
        </p:txBody>
      </p:sp>
    </p:spTree>
    <p:extLst>
      <p:ext uri="{BB962C8B-B14F-4D97-AF65-F5344CB8AC3E}">
        <p14:creationId xmlns:p14="http://schemas.microsoft.com/office/powerpoint/2010/main" val="415710029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B31B7E-3D49-4A19-8D2E-35354B3AD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"/>
            <a:ext cx="7029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CURRENT COMMAND EXECUTION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E01C2C-4097-4961-9325-A77D1F8FE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4674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d016abe6d94540"/>
          <a:stretch xmlns:a="http://schemas.openxmlformats.org/drawingml/2006/main"/>
        </p:blipFill>
        <p:spPr>
          <a:xfrm xmlns:a="http://schemas.openxmlformats.org/drawingml/2006/main">
            <a:off x="714375" y="1236849"/>
            <a:ext cx="7715250" cy="3908051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D7DBCA-F429-4E48-B419-C110807B1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743575"/>
            <a:ext cx="7381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55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57"/>
                </a:solidFill>
                <a:latin typeface="Arial"/>
                <a:ea typeface="Arial"/>
                <a:cs typeface="Arial"/>
              </a:rPr>
              <a:t>Notepad mode exposes Open and Save file. This capture shows navigation only.</a:t>
            </a:r>
          </a:p>
        </p:txBody>
      </p:sp>
    </p:spTree>
    <p:extLst>
      <p:ext uri="{BB962C8B-B14F-4D97-AF65-F5344CB8AC3E}">
        <p14:creationId xmlns:p14="http://schemas.microsoft.com/office/powerpoint/2010/main" val="4157100294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5C4EF5-C376-41BF-A1F5-89103B027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"/>
            <a:ext cx="7029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IOT HARDWARE IMPLEMENTATION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41EBA3-820C-4283-B8CB-8627B86E0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4674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772808-9C67-4312-87EE-FA9F3802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10490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7F4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46"/>
                </a:solidFill>
                <a:latin typeface="Arial"/>
                <a:ea typeface="Arial"/>
                <a:cs typeface="Arial"/>
              </a:rPr>
              <a:t>Hardware foundation documented in the original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E2D393-8A1C-4680-96D5-D023ADA7D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7381875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ESP32 gateway connects MQTT commands to relay outputs.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Arduino Nano handles ultrasonic distance and float-switch sensing.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LoRa links the sensor node and gateway through SPI modules.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DFPlayer provides audio status output through a UART connection.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Original relay assignments: pump GPIO 25, light GPIO 21 and fan GPIO 32.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A42D09-7DCD-4D48-843A-496A3D243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743575"/>
            <a:ext cx="7381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55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57"/>
                </a:solidFill>
                <a:latin typeface="Arial"/>
                <a:ea typeface="Arial"/>
                <a:cs typeface="Arial"/>
              </a:rPr>
              <a:t>Hardware details come from the supplied earlier presentation.</a:t>
            </a:r>
          </a:p>
        </p:txBody>
      </p:sp>
    </p:spTree>
    <p:extLst>
      <p:ext uri="{BB962C8B-B14F-4D97-AF65-F5344CB8AC3E}">
        <p14:creationId xmlns:p14="http://schemas.microsoft.com/office/powerpoint/2010/main" val="4157100294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ECCF58-3AAF-4275-9CC3-AB2DD9A2A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"/>
            <a:ext cx="7029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ORIGINAL IOT WIRING REFERENCE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A30EC6-04C6-4275-B090-CBE202093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4674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12927f33994687"/>
          <a:stretch xmlns:a="http://schemas.openxmlformats.org/drawingml/2006/main"/>
        </p:blipFill>
        <p:spPr>
          <a:xfrm xmlns:a="http://schemas.openxmlformats.org/drawingml/2006/main">
            <a:off x="1393825" y="1028700"/>
            <a:ext cx="6261100" cy="46958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EC3AFA-12A8-449F-A401-C1E2F6331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743575"/>
            <a:ext cx="7381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55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57"/>
                </a:solidFill>
                <a:latin typeface="Arial"/>
                <a:ea typeface="Arial"/>
                <a:cs typeface="Arial"/>
              </a:rPr>
              <a:t>Retained project wiring reference from your earlier PPT.</a:t>
            </a:r>
          </a:p>
        </p:txBody>
      </p:sp>
    </p:spTree>
    <p:extLst>
      <p:ext uri="{BB962C8B-B14F-4D97-AF65-F5344CB8AC3E}">
        <p14:creationId xmlns:p14="http://schemas.microsoft.com/office/powerpoint/2010/main" val="4157100294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8C14DE-6EDF-4334-87C4-5702729FE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"/>
            <a:ext cx="7029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CURRENT IOT COMMAND INTEGRATION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341B08-CD2E-4AB8-A635-F2B931051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4674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DBF9A7-B3EA-48E3-BA22-61CF33919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10490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7F4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46"/>
                </a:solidFill>
                <a:latin typeface="Arial"/>
                <a:ea typeface="Arial"/>
                <a:cs typeface="Arial"/>
              </a:rPr>
              <a:t>Relay control plus device maintenance commands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575D34-5BCF-4813-977E-189CDF31A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7381875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Light, fan and pump workflows expose On and Off choices.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The IoT map translates action names into firmware command strings.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Additional mappings include all_on, all_off, PING and self-test.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OTA_UPDATE and relay-polarity commands exist in the payload map.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MasterHub publishes to the configured broker and reads device status separately.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9F2516-F32D-4AAC-B6B5-C16ABEC26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743575"/>
            <a:ext cx="7381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55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57"/>
                </a:solidFill>
                <a:latin typeface="Arial"/>
                <a:ea typeface="Arial"/>
                <a:cs typeface="Arial"/>
              </a:rPr>
              <a:t>A mapped command requires compatible firmware support on the receiving device.</a:t>
            </a:r>
          </a:p>
        </p:txBody>
      </p:sp>
    </p:spTree>
    <p:extLst>
      <p:ext uri="{BB962C8B-B14F-4D97-AF65-F5344CB8AC3E}">
        <p14:creationId xmlns:p14="http://schemas.microsoft.com/office/powerpoint/2010/main" val="4157100294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BC7398-7D92-4063-AB1B-A39021C69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"/>
            <a:ext cx="7029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EMBEDDED MOBILITY IMPLEMENTATION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111905-9A9A-4A16-A4EB-7AD38E841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4674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F33969-59D6-4DFD-B31B-BBD209898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10490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7F4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46"/>
                </a:solidFill>
                <a:latin typeface="Arial"/>
                <a:ea typeface="Arial"/>
                <a:cs typeface="Arial"/>
              </a:rPr>
              <a:t>Robot car and wheelchair use separate control topics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3E31B9-4A14-4B7A-A6D1-B1C43E161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7381875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Both device menus provide forward, backward, left, right and stop.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Additional mappings support left and right 360-degree rotation.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Handlers translate action identifiers into device-specific payload strings.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Readiness checks combine broker state, matching device identity and fresh status.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BCI motion checks the active direction at dispatch and requests stop after neutral.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B9CBC7-1442-4BD8-BD61-028FBE7C4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743575"/>
            <a:ext cx="7381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55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57"/>
                </a:solidFill>
                <a:latin typeface="Arial"/>
                <a:ea typeface="Arial"/>
                <a:cs typeface="Arial"/>
              </a:rPr>
              <a:t>These are software control capabilities. Physical motion requires connected, verified hardware.</a:t>
            </a:r>
          </a:p>
        </p:txBody>
      </p:sp>
    </p:spTree>
    <p:extLst>
      <p:ext uri="{BB962C8B-B14F-4D97-AF65-F5344CB8AC3E}">
        <p14:creationId xmlns:p14="http://schemas.microsoft.com/office/powerpoint/2010/main" val="4157100294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D377B6-171C-46BC-974F-767159E11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"/>
            <a:ext cx="7029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DESKTOP AND MOBILE MEDIA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BBC3D3-2042-4E5D-98F0-DF6EE3802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4674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1856D7-E002-4FB0-A63B-A1EE26E71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2382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F4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F46"/>
                </a:solidFill>
                <a:latin typeface="Arial"/>
                <a:ea typeface="Arial"/>
                <a:cs typeface="Arial"/>
              </a:rPr>
              <a:t>Desktop JioSaavn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42109E-CDD4-4B5B-B827-1A43BF4B9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2382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F4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F46"/>
                </a:solidFill>
                <a:latin typeface="Arial"/>
                <a:ea typeface="Arial"/>
                <a:cs typeface="Arial"/>
              </a:rPr>
              <a:t>Mobile JioSaavn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688D02-8A2C-4F46-8322-583F55733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62125"/>
            <a:ext cx="3286125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Browser-based JioSaavn workflow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Next track and previous track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Play/pause and search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Ordered pairs for volume up/down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F7F706-B01A-4B75-A9CC-9BCB8B402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62125"/>
            <a:ext cx="3286125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Dedicated Android companion path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Next, previous and play/pause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Android home, search and launch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Phone presence and now-playing feedback</a:t>
            </a:r>
          </a:p>
        </p:txBody>
      </p:sp>
    </p:spTree>
    <p:extLst>
      <p:ext uri="{BB962C8B-B14F-4D97-AF65-F5344CB8AC3E}">
        <p14:creationId xmlns:p14="http://schemas.microsoft.com/office/powerpoint/2010/main" val="4157100294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D17009-1D5F-4325-8024-06AFEDDEA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"/>
            <a:ext cx="7029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MOBILE MQTT AND ACKNOWLEDGEMENT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78EB75-AB3F-416C-A22B-49008628F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4674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007B15-EEE5-4368-A4E0-556BE79AC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10490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7F4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46"/>
                </a:solidFill>
                <a:latin typeface="Arial"/>
                <a:ea typeface="Arial"/>
                <a:cs typeface="Arial"/>
              </a:rPr>
              <a:t>The phone uses an independent MQTT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47D6D4-CD70-4891-965D-B01DA3694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7381875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Separate topics carry commands, status, heartbeat, media, acknowledgements and errors.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Dispatch requires a fresh phone heartbeat and remote control enabled on the phone.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Each command carries a unique ID, issue time and expiry time.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The service tracks PENDING, EXECUTED, FAILED, REJECTED, UNCONFIRMED and TIMEOUT results.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Retained online messages cannot establish fresh liveness.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234538-F7EF-4339-949C-C6CDA56C7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743575"/>
            <a:ext cx="7381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55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57"/>
                </a:solidFill>
                <a:latin typeface="Arial"/>
                <a:ea typeface="Arial"/>
                <a:cs typeface="Arial"/>
              </a:rPr>
              <a:t>Defaults in code: 8-second acknowledgement timeout and 35-second heartbeat timeout.</a:t>
            </a:r>
          </a:p>
        </p:txBody>
      </p:sp>
    </p:spTree>
    <p:extLst>
      <p:ext uri="{BB962C8B-B14F-4D97-AF65-F5344CB8AC3E}">
        <p14:creationId xmlns:p14="http://schemas.microsoft.com/office/powerpoint/2010/main" val="4157100294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0EFA78-904C-4A6C-A94B-E673CA66C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"/>
            <a:ext cx="7029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CORTEX CONNECTION AND TRAINED PROFILES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54C6C7-5337-45DE-93E9-B60998EA2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4674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584899-9C37-4BFC-B71E-DBAD45E38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10490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7F4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46"/>
                </a:solidFill>
                <a:latin typeface="Arial"/>
                <a:ea typeface="Arial"/>
                <a:cs typeface="Arial"/>
              </a:rPr>
              <a:t>EMOTIV supplies the classified mental commands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0EAF18-6428-495E-8BAE-5616FE5F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7381875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EMOTIV Launcher and the local Cortex service provide headset access.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MasterHub requests authorization, discovers the headset and opens a session.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The user selects and loads an existing trained mental-command profile.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The com stream provides the detected action and detector power.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MasterHub routes predictions into its controller. It does not train a raw EEG model.</a:t>
            </a:r>
          </a:p>
        </p:txBody>
      </p:sp>
    </p:spTree>
    <p:extLst>
      <p:ext uri="{BB962C8B-B14F-4D97-AF65-F5344CB8AC3E}">
        <p14:creationId xmlns:p14="http://schemas.microsoft.com/office/powerpoint/2010/main" val="4157100294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345905-B2F9-4793-ABB2-9F7BCEAA6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"/>
            <a:ext cx="7029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CURRENT BCI HEADSET CONSOLE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85FAB6-18DB-45E6-8E15-0803CF745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4674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00dc481e9d4bca"/>
          <a:stretch xmlns:a="http://schemas.openxmlformats.org/drawingml/2006/main"/>
        </p:blipFill>
        <p:spPr>
          <a:xfrm xmlns:a="http://schemas.openxmlformats.org/drawingml/2006/main">
            <a:off x="5016076" y="1028700"/>
            <a:ext cx="3112347" cy="47148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EFDF59-DA62-4052-810C-D34A2F6B2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10490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7F4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46"/>
                </a:solidFill>
                <a:latin typeface="Arial"/>
                <a:ea typeface="Arial"/>
                <a:cs typeface="Arial"/>
              </a:rPr>
              <a:t>Connection and control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59C42C-4EBC-4B76-8E2B-EDDB2EE19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57375"/>
            <a:ext cx="3667125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Connection-stage feedback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Trained-profile selector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Headset, battery and signal fields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Live mental command and power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Monitor mode and control toggle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045485-1E2D-47B5-937F-57885BC05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743575"/>
            <a:ext cx="7381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55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57"/>
                </a:solidFill>
                <a:latin typeface="Arial"/>
                <a:ea typeface="Arial"/>
                <a:cs typeface="Arial"/>
              </a:rPr>
              <a:t>The screenshot preserves the offline state. Credentials remain collapsed.</a:t>
            </a:r>
          </a:p>
        </p:txBody>
      </p:sp>
    </p:spTree>
    <p:extLst>
      <p:ext uri="{BB962C8B-B14F-4D97-AF65-F5344CB8AC3E}">
        <p14:creationId xmlns:p14="http://schemas.microsoft.com/office/powerpoint/2010/main" val="4157100294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DD3464-1AD0-4755-B829-9F9DA7F40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"/>
            <a:ext cx="7029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LIVE BCI TEMPORAL CONTROLLER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F0000C-5C8B-4C76-B47B-4043495AE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4674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53BD23-5C34-4D29-BA7B-55BDFC475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10490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7F4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46"/>
                </a:solidFill>
                <a:latin typeface="Arial"/>
                <a:ea typeface="Arial"/>
                <a:cs typeface="Arial"/>
              </a:rPr>
              <a:t>One frame captures one single or ordered pair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1728DD-436E-412A-BD93-C21E91B6F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7381875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A neutral sample rearms control. A qualifying active sample starts the frame.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The default detector-power threshold is 0.20, subject to configuration.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A distinct second gesture joins the first only when that pair exists in the current mode.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Repeated packets of the same held gesture do not create repeated commands.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Singles and valid pairs execute at the original deadline when a new prediction arrives.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C26368-B1F6-46BB-A647-A1C29DCA1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743575"/>
            <a:ext cx="7381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55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57"/>
                </a:solidFill>
                <a:latin typeface="Arial"/>
                <a:ea typeface="Arial"/>
                <a:cs typeface="Arial"/>
              </a:rPr>
              <a:t>Detector power is not a measured intention-accuracy percentage.</a:t>
            </a:r>
          </a:p>
        </p:txBody>
      </p:sp>
    </p:spTree>
    <p:extLst>
      <p:ext uri="{BB962C8B-B14F-4D97-AF65-F5344CB8AC3E}">
        <p14:creationId xmlns:p14="http://schemas.microsoft.com/office/powerpoint/2010/main" val="4157100294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18E5AB-9D3C-42C3-BFD7-AB642BCAB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"/>
            <a:ext cx="7029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BCI CONTEXT AND COMMAND INPUTS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77ADF6-6BA0-4CC3-8BE9-2624A40A9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4674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58CFBF-F6E4-443D-80E3-3CAEDF5AE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10490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7F4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46"/>
                </a:solidFill>
                <a:latin typeface="Arial"/>
                <a:ea typeface="Arial"/>
                <a:cs typeface="Arial"/>
              </a:rPr>
              <a:t>The controller keeps intent tied to the active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F16CCD-574D-42F4-AEDC-4A4F19FD3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7381875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Mode or target changes reset pending context. Control-generation checks prevent stale dispatch.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An unassigned qualifying gesture pair cancels its frame.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Search, compose and save operations use prepared parameter fields.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Neutral does not cancel a pending nonmotion action. Stop Control cancels BCI actuation.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Motion requires matching direction at dispatch and neutral requests a stop afterwards.</a:t>
            </a:r>
          </a:p>
        </p:txBody>
      </p:sp>
    </p:spTree>
    <p:extLst>
      <p:ext uri="{BB962C8B-B14F-4D97-AF65-F5344CB8AC3E}">
        <p14:creationId xmlns:p14="http://schemas.microsoft.com/office/powerpoint/2010/main" val="4157100294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9954DB-E056-4C15-9D81-28B70952D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"/>
            <a:ext cx="7029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REMOTE PC AGENTS AND USB SERIAL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971AAA-15EE-4F84-A230-28DA6FADD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4674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F9710A-72C7-4888-B0E1-C8ACF0EA2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10490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7F4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46"/>
                </a:solidFill>
                <a:latin typeface="Arial"/>
                <a:ea typeface="Arial"/>
                <a:cs typeface="Arial"/>
              </a:rPr>
              <a:t>Target selection supports local and external execution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942017-72E7-4DAC-9FA6-747D5F103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7381875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Local Host executes supported desktop actions on the MasterHub computer.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Remote PCs register a device ID and use a compatible agent over MQTT or serial.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Agent startup helpers and configuration artifacts support deployment setup.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USB configuration selects a COM port and uses JSON-line messages at 115200 baud by default.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A registered target still needs a running agent, a working transport and fresh presence.</a:t>
            </a:r>
          </a:p>
        </p:txBody>
      </p:sp>
    </p:spTree>
    <p:extLst>
      <p:ext uri="{BB962C8B-B14F-4D97-AF65-F5344CB8AC3E}">
        <p14:creationId xmlns:p14="http://schemas.microsoft.com/office/powerpoint/2010/main" val="4157100294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7B7D57-3166-42C5-BBA4-1F39FDEED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"/>
            <a:ext cx="7029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CURRENT SIDEBAR AND OPERATOR TOOLS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C12DF2-5837-48E5-BDB7-4BE7F819E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4674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c876d30d1a4d90"/>
          <a:stretch xmlns:a="http://schemas.openxmlformats.org/drawingml/2006/main"/>
        </p:blipFill>
        <p:spPr>
          <a:xfrm xmlns:a="http://schemas.openxmlformats.org/drawingml/2006/main">
            <a:off x="985276" y="1019175"/>
            <a:ext cx="2506199" cy="46958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FABA0C-EC06-4C3E-834A-CE1056195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19062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7F4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F46"/>
                </a:solidFill>
                <a:latin typeface="Arial"/>
                <a:ea typeface="Arial"/>
                <a:cs typeface="Arial"/>
              </a:rPr>
              <a:t>Built-in tools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E96121-B711-4028-A8F9-3739D63E2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838325"/>
            <a:ext cx="3524250" cy="331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Connection matrix and domain shortcuts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Temporal-window presets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Gesture cheat sheet and user guide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Target registration and UART setup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Reset state and software E-Stop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2208E8-CED0-4B4B-A11D-326B8F913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743575"/>
            <a:ext cx="7381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55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57"/>
                </a:solidFill>
                <a:latin typeface="Arial"/>
                <a:ea typeface="Arial"/>
                <a:cs typeface="Arial"/>
              </a:rPr>
              <a:t>The sidebar exposes configuration and diagnostic controls within the main console.</a:t>
            </a:r>
          </a:p>
        </p:txBody>
      </p:sp>
    </p:spTree>
    <p:extLst>
      <p:ext uri="{BB962C8B-B14F-4D97-AF65-F5344CB8AC3E}">
        <p14:creationId xmlns:p14="http://schemas.microsoft.com/office/powerpoint/2010/main" val="4157100294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F6614D-DCBF-4EE6-893A-37C1B6FDB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"/>
            <a:ext cx="7029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STATUS, TELEMETRY AND ACTIVITY RECORDS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8385EB-3AF2-4EED-BB43-280841B07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4674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B8ECE2-ADE1-4F4D-A629-63FB33BD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10490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7F4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46"/>
                </a:solidFill>
                <a:latin typeface="Arial"/>
                <a:ea typeface="Arial"/>
                <a:cs typeface="Arial"/>
              </a:rPr>
              <a:t>Feedback supports diagnosis at each layer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EB0595-72B7-4EE8-B891-7DDB26573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7381875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Metrics record response, processing and execution latency with up to 100 recent samples.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Counters track total, successful and failed commands.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The Fault Recovery label derives from command outcomes. It is not a physical recovery-time measurement.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Manual and BCI activity records help trace command source and execution result.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The dashboard offers LOG, JSON and CSV telemetry export.</a:t>
            </a:r>
          </a:p>
        </p:txBody>
      </p:sp>
    </p:spTree>
    <p:extLst>
      <p:ext uri="{BB962C8B-B14F-4D97-AF65-F5344CB8AC3E}">
        <p14:creationId xmlns:p14="http://schemas.microsoft.com/office/powerpoint/2010/main" val="4157100294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37D958-302E-43C8-A29A-6746AD79C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"/>
            <a:ext cx="7029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API AND CONFIGURATION SURFACE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3F3135-2940-4564-8D19-5CC0E6DE3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4674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17A8C0-DA21-4CFD-9145-A06526AE9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10490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7F4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46"/>
                </a:solidFill>
                <a:latin typeface="Arial"/>
                <a:ea typeface="Arial"/>
                <a:cs typeface="Arial"/>
              </a:rPr>
              <a:t>The browser and external clients share the backend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482D2B-AEFC-4635-9BB5-316725DEA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7381875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POST /api/command accepts supported command and gesture inputs.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State and workflow endpoints expose current context and available choices.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Health, metrics and device-status endpoints support monitoring.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Hardware configuration stores broker and topic settings for subsequent use.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Cortex endpoints manage connection, profile, stream status and control mode.</a:t>
            </a:r>
          </a:p>
        </p:txBody>
      </p:sp>
    </p:spTree>
    <p:extLst>
      <p:ext uri="{BB962C8B-B14F-4D97-AF65-F5344CB8AC3E}">
        <p14:creationId xmlns:p14="http://schemas.microsoft.com/office/powerpoint/2010/main" val="4157100294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79FB16-576C-4DF4-8257-929290966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"/>
            <a:ext cx="7029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SAFETY CONTROLS AND OPERATING BOUNDARIES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923774-E47C-4489-9753-06F413714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4674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033613-EDFD-4D2E-AE82-F2B8DBAEF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10490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7F4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46"/>
                </a:solidFill>
                <a:latin typeface="Arial"/>
                <a:ea typeface="Arial"/>
                <a:cs typeface="Arial"/>
              </a:rPr>
              <a:t>Software safeguards support controlled testing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EB75EF-63D6-4020-9275-193CD11D6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7381875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Command validation rejects unsupported routes and checks required parameters.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The BCI interface begins in monitor mode and requires explicit control enablement.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Dashboard countdowns support cancellation before dispatch.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Software E-Stop requests stops. A device acknowledgement and independent hardware stop remain essential.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Simulation Mode changes UI state and logs. It does not isolate real actions.</a:t>
            </a:r>
          </a:p>
        </p:txBody>
      </p:sp>
    </p:spTree>
    <p:extLst>
      <p:ext uri="{BB962C8B-B14F-4D97-AF65-F5344CB8AC3E}">
        <p14:creationId xmlns:p14="http://schemas.microsoft.com/office/powerpoint/2010/main" val="4157100294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104D21-58EA-44A9-AB8C-729E75509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"/>
            <a:ext cx="7029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TEST COVERAGE AND REPLAY TOOLS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0EF2F7-3A73-4D54-A2B2-ECCC4E330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4674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08EE39-DE85-45FE-B00B-840DEE43E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10490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7F4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46"/>
                </a:solidFill>
                <a:latin typeface="Arial"/>
                <a:ea typeface="Arial"/>
                <a:cs typeface="Arial"/>
              </a:rPr>
              <a:t>Tests cover control behavior and service integration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4772EC-8486-4C64-BBD8-52727A4A4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7381875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BCI tests cover framing, neutral rearm, ordered pairs, context changes and motion handling.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Workflow tests cover state transitions, mappings and command updates.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Other modules test hardware status, mobile media and separate logging paths.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Recorded-prediction replay sends requests through the command API.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Replay filtering differs from the live controller. Hardware results need a connected-device test.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DF3ADA-AA65-4A5E-944B-8EAF9A6D4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743575"/>
            <a:ext cx="7381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55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57"/>
                </a:solidFill>
                <a:latin typeface="Arial"/>
                <a:ea typeface="Arial"/>
                <a:cs typeface="Arial"/>
              </a:rPr>
              <a:t>This deck describes the test coverage present in the repository, not a new full-suite test result.</a:t>
            </a:r>
          </a:p>
        </p:txBody>
      </p:sp>
    </p:spTree>
    <p:extLst>
      <p:ext uri="{BB962C8B-B14F-4D97-AF65-F5344CB8AC3E}">
        <p14:creationId xmlns:p14="http://schemas.microsoft.com/office/powerpoint/2010/main" val="4157100294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4E5105-48E4-45FC-9EB2-164A45397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"/>
            <a:ext cx="7029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IMPLEMENTATION STATUS AND DEPENDENCIES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430836-4EB3-47EA-82B9-AE570A171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4674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0EB0D4-3247-4E93-9E73-1370D69BA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2382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F4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F46"/>
                </a:solidFill>
                <a:latin typeface="Arial"/>
                <a:ea typeface="Arial"/>
                <a:cs typeface="Arial"/>
              </a:rPr>
              <a:t>Implemented in MasterHub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26EF18-5744-40E0-8995-813DE797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2382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F4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F46"/>
                </a:solidFill>
                <a:latin typeface="Arial"/>
                <a:ea typeface="Arial"/>
                <a:cs typeface="Arial"/>
              </a:rPr>
              <a:t>Needed for live operation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B31D17-7C87-450E-BE7F-2A39CCCFD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62125"/>
            <a:ext cx="3286125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Four-domain dashboard and workflow builder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Mapped state machine and command router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Cortex stream and temporal controller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MQTT, USB and remote-target services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Mobile acknowledgements and telemetry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97CF13-C526-49DD-9B7E-36FC45752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62125"/>
            <a:ext cx="3286125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Broker and compatible device firmware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Connected and safe mobility hardware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Running remote PC or Android agent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EMOTIV access and trained profile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Application sessions and desktop access</a:t>
            </a:r>
          </a:p>
        </p:txBody>
      </p:sp>
    </p:spTree>
    <p:extLst>
      <p:ext uri="{BB962C8B-B14F-4D97-AF65-F5344CB8AC3E}">
        <p14:creationId xmlns:p14="http://schemas.microsoft.com/office/powerpoint/2010/main" val="4157100294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1C9F37-D030-4402-BC91-58DA281EA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"/>
            <a:ext cx="7029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FUTURE DEVELOPMENT PRIORITIES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C3C237-6860-4B26-ABD4-1D772C531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4674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3E02D3-A6D1-4C13-8004-19C63EC7A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10490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7F4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46"/>
                </a:solidFill>
                <a:latin typeface="Arial"/>
                <a:ea typeface="Arial"/>
                <a:cs typeface="Arial"/>
              </a:rPr>
              <a:t>Next work builds on the current modules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083E11-3086-467C-B3F7-22447EF75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7381875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Complete connected-device validation for each transport and command family.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Add device-side watchdogs and verify stop acknowledgements under link failure.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Create a dry-run backend that cannot dispatch physical or desktop actions.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Expand repeatable integration tests and remote-agent packaging.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Improve user-specific BCI calibration and deployment authentication.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6B0B72-55B5-4A16-BBAB-D9BA46A0D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743575"/>
            <a:ext cx="7381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55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57"/>
                </a:solidFill>
                <a:latin typeface="Arial"/>
                <a:ea typeface="Arial"/>
                <a:cs typeface="Arial"/>
              </a:rPr>
              <a:t>Proposed next steps, separate from implemented features.</a:t>
            </a:r>
          </a:p>
        </p:txBody>
      </p:sp>
    </p:spTree>
    <p:extLst>
      <p:ext uri="{BB962C8B-B14F-4D97-AF65-F5344CB8AC3E}">
        <p14:creationId xmlns:p14="http://schemas.microsoft.com/office/powerpoint/2010/main" val="4157100294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BC9C68-DFBB-4FB1-908E-C31A424BD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"/>
            <a:ext cx="7029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69F5AE-AC5E-4D24-AFCB-761A3F5FB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4674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2CC75B-E89F-42FA-B231-4BEF809D9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10490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7F4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46"/>
                </a:solidFill>
                <a:latin typeface="Arial"/>
                <a:ea typeface="Arial"/>
                <a:cs typeface="Arial"/>
              </a:rPr>
              <a:t>MasterHub now provides a common control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2A0062-B885-4389-9099-CA990CAC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33550"/>
            <a:ext cx="7381875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95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The project combines the earlier IoT hardware work with desktop, mobility and media control.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95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A shared state machine and mapping layer reuse manual and mental-command inputs.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95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The current dashboard exposes workflow context, connection status and command feedback.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95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The next milestone is repeatable end-to-end validation with the complete hardware setup.</a:t>
            </a:r>
          </a:p>
        </p:txBody>
      </p:sp>
    </p:spTree>
    <p:extLst>
      <p:ext uri="{BB962C8B-B14F-4D97-AF65-F5344CB8AC3E}">
        <p14:creationId xmlns:p14="http://schemas.microsoft.com/office/powerpoint/2010/main" val="4157100294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E2CFC47D-3F82-BC60-29DC-6DE1CAE18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5045" y="2064774"/>
            <a:ext cx="5584722" cy="21236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6600" b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ll MT"/>
                <a:ea typeface="Bell MT"/>
                <a:cs typeface="Bell MT"/>
              </a:rPr>
              <a:t>THANK 					YOU</a:t>
            </a:r>
            <a:endParaRPr sz="6600" b="1"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ll MT"/>
              <a:ea typeface="Bell MT"/>
              <a:cs typeface="Bell MT"/>
            </a:endParaRPr>
          </a:p>
        </p:txBody>
      </p:sp>
    </p:spTree>
    <p:extLst>
      <p:ext uri="{BB962C8B-B14F-4D97-AF65-F5344CB8AC3E}">
        <p14:creationId xmlns:p14="http://schemas.microsoft.com/office/powerpoint/2010/main" val="1688424511"/>
      </p:ext>
    </p:extLst>
  </p:cSld>
</p:sld>
</file>

<file path=ppt/theme/theme1.xml><?xml version="1.0" encoding="utf-8"?>
<a:theme xmlns:a="http://schemas.openxmlformats.org/drawingml/2006/main" name="1_Office Theme">
  <a:themeElements>
    <a:clrScheme name="HITAM1">
      <a:dk1>
        <a:srgbClr val="262626"/>
      </a:dk1>
      <a:lt1>
        <a:srgbClr val="FFFFFF"/>
      </a:lt1>
      <a:dk2>
        <a:srgbClr val="1F497D"/>
      </a:dk2>
      <a:lt2>
        <a:srgbClr val="EEECE1"/>
      </a:lt2>
      <a:accent1>
        <a:srgbClr val="2B7D1D"/>
      </a:accent1>
      <a:accent2>
        <a:srgbClr val="7CD14B"/>
      </a:accent2>
      <a:accent3>
        <a:srgbClr val="9BBB59"/>
      </a:accent3>
      <a:accent4>
        <a:srgbClr val="FFDD00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ITAM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2026-09-26T04:44:34.7440000Z</dcterms:created>
  <dcterms:modified xsi:type="dcterms:W3CDTF">2026-09-26T04:44:34.7440000Z</dcterms:modified>
</coreProperties>
</file>