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63866fc14d49da" /><Relationship Type="http://schemas.openxmlformats.org/officeDocument/2006/relationships/extended-properties" Target="/docProps/app.xml" Id="R3f54be51e1ea4c64" /><Relationship Type="http://schemas.openxmlformats.org/officeDocument/2006/relationships/officeDocument" Target="/ppt/presentation.xml" Id="Rd71a1c33a22641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55a4add5a244b6"/>
  </p:sldMasterIdLst>
  <p:notesMasterIdLst>
    <p:notesMasterId xmlns:r="http://schemas.openxmlformats.org/officeDocument/2006/relationships" r:id="Rd8b6d57d9975475a"/>
  </p:notesMasterIdLst>
  <p:sldIdLst>
    <p:sldId xmlns:r="http://schemas.openxmlformats.org/officeDocument/2006/relationships" id="256" r:id="Rd549bd33bddb499e"/>
    <p:sldId xmlns:r="http://schemas.openxmlformats.org/officeDocument/2006/relationships" id="257" r:id="R694be0162d864ceb"/>
    <p:sldId xmlns:r="http://schemas.openxmlformats.org/officeDocument/2006/relationships" id="258" r:id="Rf9225eea5a9d499b"/>
    <p:sldId xmlns:r="http://schemas.openxmlformats.org/officeDocument/2006/relationships" id="259" r:id="R216e076b90f14e83"/>
    <p:sldId xmlns:r="http://schemas.openxmlformats.org/officeDocument/2006/relationships" id="260" r:id="R7b98b7a6989c4515"/>
    <p:sldId xmlns:r="http://schemas.openxmlformats.org/officeDocument/2006/relationships" id="261" r:id="R2081e0dc60894505"/>
    <p:sldId xmlns:r="http://schemas.openxmlformats.org/officeDocument/2006/relationships" id="262" r:id="Rb25bbc16936e4617"/>
    <p:sldId xmlns:r="http://schemas.openxmlformats.org/officeDocument/2006/relationships" id="263" r:id="Ra37504c0f1ad46e5"/>
    <p:sldId xmlns:r="http://schemas.openxmlformats.org/officeDocument/2006/relationships" id="264" r:id="R42bb487677bc40f6"/>
    <p:sldId xmlns:r="http://schemas.openxmlformats.org/officeDocument/2006/relationships" id="265" r:id="R3d7be73cfb1e42c6"/>
    <p:sldId xmlns:r="http://schemas.openxmlformats.org/officeDocument/2006/relationships" id="266" r:id="R7f6ea598347f44d9"/>
    <p:sldId xmlns:r="http://schemas.openxmlformats.org/officeDocument/2006/relationships" id="267" r:id="R74ead0c4d95545d8"/>
    <p:sldId xmlns:r="http://schemas.openxmlformats.org/officeDocument/2006/relationships" id="268" r:id="R1b5fce97e491414d"/>
    <p:sldId xmlns:r="http://schemas.openxmlformats.org/officeDocument/2006/relationships" id="269" r:id="Rc389cd11aa2f4c26"/>
    <p:sldId xmlns:r="http://schemas.openxmlformats.org/officeDocument/2006/relationships" id="270" r:id="R89a6ba00ef6a4f96"/>
    <p:sldId xmlns:r="http://schemas.openxmlformats.org/officeDocument/2006/relationships" id="271" r:id="Rd1ce451d5cd04059"/>
    <p:sldId xmlns:r="http://schemas.openxmlformats.org/officeDocument/2006/relationships" id="272" r:id="Re11a5526ef3348b7"/>
    <p:sldId xmlns:r="http://schemas.openxmlformats.org/officeDocument/2006/relationships" id="273" r:id="Rfdcf55a599984bf6"/>
    <p:sldId xmlns:r="http://schemas.openxmlformats.org/officeDocument/2006/relationships" id="274" r:id="R747e6acc762a4ff0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adc00467d64cbd" /><Relationship Type="http://schemas.openxmlformats.org/officeDocument/2006/relationships/slideMaster" Target="/ppt/slideMasters/slideMaster1.xml" Id="R1e55a4add5a244b6" /><Relationship Type="http://schemas.openxmlformats.org/officeDocument/2006/relationships/notesMaster" Target="/ppt/notesMasters/notesMaster1.xml" Id="Rd8b6d57d9975475a" /><Relationship Type="http://schemas.openxmlformats.org/officeDocument/2006/relationships/presProps" Target="/ppt/presProps.xml" Id="Rd45b76a7fe86402d" /><Relationship Type="http://schemas.openxmlformats.org/officeDocument/2006/relationships/tableStyles" Target="/ppt/tableStyles.xml" Id="R5a89434261414ef1" /><Relationship Type="http://schemas.openxmlformats.org/officeDocument/2006/relationships/slide" Target="/ppt/slides/slide1.xml" Id="Rd549bd33bddb499e" /><Relationship Type="http://schemas.openxmlformats.org/officeDocument/2006/relationships/slide" Target="/ppt/slides/slide2.xml" Id="R694be0162d864ceb" /><Relationship Type="http://schemas.openxmlformats.org/officeDocument/2006/relationships/slide" Target="/ppt/slides/slide3.xml" Id="Rf9225eea5a9d499b" /><Relationship Type="http://schemas.openxmlformats.org/officeDocument/2006/relationships/slide" Target="/ppt/slides/slide4.xml" Id="R216e076b90f14e83" /><Relationship Type="http://schemas.openxmlformats.org/officeDocument/2006/relationships/slide" Target="/ppt/slides/slide5.xml" Id="R7b98b7a6989c4515" /><Relationship Type="http://schemas.openxmlformats.org/officeDocument/2006/relationships/slide" Target="/ppt/slides/slide6.xml" Id="R2081e0dc60894505" /><Relationship Type="http://schemas.openxmlformats.org/officeDocument/2006/relationships/slide" Target="/ppt/slides/slide7.xml" Id="Rb25bbc16936e4617" /><Relationship Type="http://schemas.openxmlformats.org/officeDocument/2006/relationships/slide" Target="/ppt/slides/slide8.xml" Id="Ra37504c0f1ad46e5" /><Relationship Type="http://schemas.openxmlformats.org/officeDocument/2006/relationships/slide" Target="/ppt/slides/slide9.xml" Id="R42bb487677bc40f6" /><Relationship Type="http://schemas.openxmlformats.org/officeDocument/2006/relationships/slide" Target="/ppt/slides/slide10.xml" Id="R3d7be73cfb1e42c6" /><Relationship Type="http://schemas.openxmlformats.org/officeDocument/2006/relationships/slide" Target="/ppt/slides/slide11.xml" Id="R7f6ea598347f44d9" /><Relationship Type="http://schemas.openxmlformats.org/officeDocument/2006/relationships/slide" Target="/ppt/slides/slide12.xml" Id="R74ead0c4d95545d8" /><Relationship Type="http://schemas.openxmlformats.org/officeDocument/2006/relationships/slide" Target="/ppt/slides/slide13.xml" Id="R1b5fce97e491414d" /><Relationship Type="http://schemas.openxmlformats.org/officeDocument/2006/relationships/slide" Target="/ppt/slides/slide14.xml" Id="Rc389cd11aa2f4c26" /><Relationship Type="http://schemas.openxmlformats.org/officeDocument/2006/relationships/slide" Target="/ppt/slides/slide15.xml" Id="R89a6ba00ef6a4f96" /><Relationship Type="http://schemas.openxmlformats.org/officeDocument/2006/relationships/slide" Target="/ppt/slides/slide16.xml" Id="Rd1ce451d5cd04059" /><Relationship Type="http://schemas.openxmlformats.org/officeDocument/2006/relationships/slide" Target="/ppt/slides/slide17.xml" Id="Re11a5526ef3348b7" /><Relationship Type="http://schemas.openxmlformats.org/officeDocument/2006/relationships/slide" Target="/ppt/slides/slide18.xml" Id="Rfdcf55a599984bf6" /><Relationship Type="http://schemas.openxmlformats.org/officeDocument/2006/relationships/slide" Target="/ppt/slides/slide19.xml" Id="R747e6acc762a4f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e4ace5c9dd4b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344f7267484ba0" /><Relationship Type="http://schemas.openxmlformats.org/officeDocument/2006/relationships/notesMaster" Target="/ppt/notesMasters/notesMaster1.xml" Id="R0c3c2dbad5ce49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2d7394096f4221" /><Relationship Type="http://schemas.openxmlformats.org/officeDocument/2006/relationships/notesMaster" Target="/ppt/notesMasters/notesMaster1.xml" Id="Rfdef84fa06d245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1191241cb24d88" /><Relationship Type="http://schemas.openxmlformats.org/officeDocument/2006/relationships/notesMaster" Target="/ppt/notesMasters/notesMaster1.xml" Id="R9d39ee5761434a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60f56203b54d0c" /><Relationship Type="http://schemas.openxmlformats.org/officeDocument/2006/relationships/notesMaster" Target="/ppt/notesMasters/notesMaster1.xml" Id="R4dba681af0c641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3d2b3b9d224c8b" /><Relationship Type="http://schemas.openxmlformats.org/officeDocument/2006/relationships/notesMaster" Target="/ppt/notesMasters/notesMaster1.xml" Id="R0bd13f4eb8c440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c5f10535014bcc" /><Relationship Type="http://schemas.openxmlformats.org/officeDocument/2006/relationships/notesMaster" Target="/ppt/notesMasters/notesMaster1.xml" Id="R6e4eb54f0a034c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7cafc142414e93" /><Relationship Type="http://schemas.openxmlformats.org/officeDocument/2006/relationships/notesMaster" Target="/ppt/notesMasters/notesMaster1.xml" Id="R03749e7e000840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a303e5905d4563" /><Relationship Type="http://schemas.openxmlformats.org/officeDocument/2006/relationships/notesMaster" Target="/ppt/notesMasters/notesMaster1.xml" Id="R73d57a16b43445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ae880bd40d4eef" /><Relationship Type="http://schemas.openxmlformats.org/officeDocument/2006/relationships/notesMaster" Target="/ppt/notesMasters/notesMaster1.xml" Id="R17e5f7e5108a42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a6581fcb834de0" /><Relationship Type="http://schemas.openxmlformats.org/officeDocument/2006/relationships/notesMaster" Target="/ppt/notesMasters/notesMaster1.xml" Id="Rb97eebddf9fa4b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6d95b210714e62" /><Relationship Type="http://schemas.openxmlformats.org/officeDocument/2006/relationships/notesMaster" Target="/ppt/notesMasters/notesMaster1.xml" Id="Rd1d740a87b3e42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3754ea74a645fd" /><Relationship Type="http://schemas.openxmlformats.org/officeDocument/2006/relationships/notesMaster" Target="/ppt/notesMasters/notesMaster1.xml" Id="R58c43e40684d4d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56be8b028f4eb9" /><Relationship Type="http://schemas.openxmlformats.org/officeDocument/2006/relationships/notesMaster" Target="/ppt/notesMasters/notesMaster1.xml" Id="R7ff6a8ccba4a44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e2d55bbe584c0b" /><Relationship Type="http://schemas.openxmlformats.org/officeDocument/2006/relationships/notesMaster" Target="/ppt/notesMasters/notesMaster1.xml" Id="Rae3deb763bbd4c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c0926fdd5f4184" /><Relationship Type="http://schemas.openxmlformats.org/officeDocument/2006/relationships/notesMaster" Target="/ppt/notesMasters/notesMaster1.xml" Id="R4c2efb95191142f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bd1ff63a1c4b33" /><Relationship Type="http://schemas.openxmlformats.org/officeDocument/2006/relationships/notesMaster" Target="/ppt/notesMasters/notesMaster1.xml" Id="R5e7cfba6305341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b6c6d2b62e4f48" /><Relationship Type="http://schemas.openxmlformats.org/officeDocument/2006/relationships/notesMaster" Target="/ppt/notesMasters/notesMaster1.xml" Id="Rccee6d89d43b43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9201e37671043c0" /><Relationship Type="http://schemas.openxmlformats.org/officeDocument/2006/relationships/notesMaster" Target="/ppt/notesMasters/notesMaster1.xml" Id="Rfcf9500f30b942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8529ffed27641d9" /><Relationship Type="http://schemas.openxmlformats.org/officeDocument/2006/relationships/notesMaster" Target="/ppt/notesMasters/notesMaster1.xml" Id="Ra832932fa9fe44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style based on the user-supplied noushith_IOT_ppt.pptx. Project facts sourced from the current MasterHub repository and live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Contents reflect the current repository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current project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sequence summarized from repository history reflected in current modules and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source: docs/diagrams/arch_flowchart.png.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core/input_processor.py, core/engine.py, core/router.py, static/masterhub.js and cortex/control.py.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mappings/mode_map.json and dashboard domain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Runtime counts observed when the current Flask application started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cortex/service.py, cortex/control.py, templates/bci_panel.html and live dashboard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cortex/control.py, tests/test_cortex_control.py and docs/diagrams/scenario_sequence.png.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services/mqtt_service.py, services/usb_service.py, services/hardware_config.py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current local application at /dashboard on 26 September 2026. Offline hardware indicators reflect the capture environment, not missing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templates/dashboard.html and static/masterhub.js.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safety notes and current service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repository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tests/ directory and README.md testing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repository and README.md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work is based on gaps documented in the current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59ff8790724e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56298833994211" /><Relationship Type="http://schemas.openxmlformats.org/officeDocument/2006/relationships/slideLayout" Target="/ppt/slideLayouts/slideLayout1.xml" Id="R82c572a2fd4549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c572a2fd4549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b5a245349462e" /><Relationship Type="http://schemas.openxmlformats.org/officeDocument/2006/relationships/notesSlide" Target="/ppt/notesSlides/notesSlide1.xml" Id="R0d1495113ab149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5bc5389cb4fce" /><Relationship Type="http://schemas.openxmlformats.org/officeDocument/2006/relationships/notesSlide" Target="/ppt/notesSlides/notesSlide2.xml" Id="Rc868d4739bbf40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eb2ad6d2740ff" /><Relationship Type="http://schemas.openxmlformats.org/officeDocument/2006/relationships/notesSlide" Target="/ppt/notesSlides/notesSlide3.xml" Id="Re7d21078b2a047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ee6c9b11e427d" /><Relationship Type="http://schemas.openxmlformats.org/officeDocument/2006/relationships/notesSlide" Target="/ppt/notesSlides/notesSlide4.xml" Id="R500780c95d194c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57735e29245fe" /><Relationship Type="http://schemas.openxmlformats.org/officeDocument/2006/relationships/image" Target="/ppt/media/image.png" Id="R80501946f91346ab" /><Relationship Type="http://schemas.openxmlformats.org/officeDocument/2006/relationships/notesSlide" Target="/ppt/notesSlides/notesSlide5.xml" Id="R62dc0b31a79c46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b77fa4e3f4360" /><Relationship Type="http://schemas.openxmlformats.org/officeDocument/2006/relationships/notesSlide" Target="/ppt/notesSlides/notesSlide6.xml" Id="R79311b1cbb8047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f5f3caa394a5c" /><Relationship Type="http://schemas.openxmlformats.org/officeDocument/2006/relationships/notesSlide" Target="/ppt/notesSlides/notesSlide7.xml" Id="Re34f2eb9dc294b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b7f73153c4b07" /><Relationship Type="http://schemas.openxmlformats.org/officeDocument/2006/relationships/notesSlide" Target="/ppt/notesSlides/notesSlide8.xml" Id="Rdc008cd042ab4a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c4abb782b44e3" /><Relationship Type="http://schemas.openxmlformats.org/officeDocument/2006/relationships/image" Target="/ppt/media/image2.png" Id="R6b388d04e9d746ab" /><Relationship Type="http://schemas.openxmlformats.org/officeDocument/2006/relationships/notesSlide" Target="/ppt/notesSlides/notesSlide9.xml" Id="R7ff6d545413c47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5a2260dbb45ed" /><Relationship Type="http://schemas.openxmlformats.org/officeDocument/2006/relationships/image" Target="/ppt/media/image3.png" Id="R6771b04459164efa" /><Relationship Type="http://schemas.openxmlformats.org/officeDocument/2006/relationships/notesSlide" Target="/ppt/notesSlides/notesSlide10.xml" Id="R18e342a24eb74d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f554869c94452" /><Relationship Type="http://schemas.openxmlformats.org/officeDocument/2006/relationships/notesSlide" Target="/ppt/notesSlides/notesSlide11.xml" Id="R3df3158be0614f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c3dc46fde4efe" /><Relationship Type="http://schemas.openxmlformats.org/officeDocument/2006/relationships/image" Target="/ppt/media/image4.png" Id="R2bb288d603c74440" /><Relationship Type="http://schemas.openxmlformats.org/officeDocument/2006/relationships/notesSlide" Target="/ppt/notesSlides/notesSlide12.xml" Id="Rd6bf9aac2b5e45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8237f39f244d3" /><Relationship Type="http://schemas.openxmlformats.org/officeDocument/2006/relationships/notesSlide" Target="/ppt/notesSlides/notesSlide13.xml" Id="Rd7480758f73540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831369d3e44b4" /><Relationship Type="http://schemas.openxmlformats.org/officeDocument/2006/relationships/notesSlide" Target="/ppt/notesSlides/notesSlide14.xml" Id="R556008eb863046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8d3d079a8478d" /><Relationship Type="http://schemas.openxmlformats.org/officeDocument/2006/relationships/notesSlide" Target="/ppt/notesSlides/notesSlide15.xml" Id="R22a80cf3621e49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772e7944f4460" /><Relationship Type="http://schemas.openxmlformats.org/officeDocument/2006/relationships/notesSlide" Target="/ppt/notesSlides/notesSlide16.xml" Id="Rf9bb36662ea740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4d47789fe43d7" /><Relationship Type="http://schemas.openxmlformats.org/officeDocument/2006/relationships/notesSlide" Target="/ppt/notesSlides/notesSlide17.xml" Id="R691b313d30f8466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eeab9c6ee432e" /><Relationship Type="http://schemas.openxmlformats.org/officeDocument/2006/relationships/notesSlide" Target="/ppt/notesSlides/notesSlide18.xml" Id="Ra3a2888893d940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1675d90cc48d5" /><Relationship Type="http://schemas.openxmlformats.org/officeDocument/2006/relationships/notesSlide" Target="/ppt/notesSlides/notesSlide19.xml" Id="R2a4e359be7fa45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7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EC4D5-A789-432D-95D2-9CCE1CE3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4ADFF-4E1B-4C5E-BB09-C8D4DFC9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7962900" cy="56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9D24E-C616-42AF-9B62-700F1912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08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HYDERABAD INSTITUTE OF TECHNOLOGY</a:t>
            </a:r>
          </a:p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F73F3-71AB-4D5B-B735-9C5A49B0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8592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D3C58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D3C58B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A8494-6B0D-4BB9-A0CF-7EFF0982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431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BCI, IoT, Desktop and Mobility Control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094E7-D06B-4C04-BE0D-804AE881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38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0DC3D-1401-49C8-83BD-32828987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004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system architecture, dashboard and completed modules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A7FA9-9415-467E-AF43-6157058D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81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NOUSHITH  |  2451A051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6F30B-A08D-46AE-8350-17135569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435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status deck · September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D9B8F-A962-417A-B426-32FAF5E9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905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</p:spTree>
    <p:extLst>
      <p:ext uri="{BB962C8B-B14F-4D97-AF65-F5344CB8AC3E}">
        <p14:creationId xmlns:p14="http://schemas.microsoft.com/office/powerpoint/2010/main" val="896673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ABBCD-659F-47A7-B083-2FDF906C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D63C6-A83E-4860-903E-CDFCC7B9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 OF 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A2DB5-DD6D-4F5F-8549-5F81F834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FE887-7965-4B05-975E-7571DB22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CC4C3-A741-49C8-B4EE-84CFE8D9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74A18-644E-49DE-9EFF-98F85261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9A47D-C547-43AD-9635-E483D376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EECCB-E0C1-40C1-87CC-8BC5F1CC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666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Project scope and implementation status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MasterHub architecture and command lifecycle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Four control domains and supported targets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EMOTIV Cortex BCI workflow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MQTT, USB and remote-agent connectivity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Current dashboard and observability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Safety controls, validation and testing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Current limitations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811827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F0397-C566-4A42-90F3-CB734FC1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5C1BF-B0DE-4DE5-9CFA-BCFC4612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MASTERHUB PROJECT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46CE2-1AF9-4366-AE98-D9EF8B23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40734-19E8-4383-B9BD-A0E0A200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728CF-AF90-4C9A-954C-A5BBA4D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71BFF-A971-4058-8FD3-76895C20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61934-13D0-4A55-9AC2-A70A0B0E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0FBB9-59B0-4EC7-927B-7A45497D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4875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28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A single control layer translates manual input or EMOTIV mental commands into actions across software and physical devices.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E98B0-50FC-4F0C-BE5E-F4B4308B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619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67A77-3D29-4003-93A7-3AA30330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D55A6-F9E8-4024-9CCF-4261C326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335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493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Dashboard controls, arrow keys, HTTP requests, recorded predictions and live Cortex mental-command samples.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9079F-039B-4C28-A134-19106D61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3619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6DD96-32B7-4079-B90C-8D644408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85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CONTROL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28838-8BF5-4B2F-81BD-A20D3586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335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4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Input normalization, mode state, temporal framing, command validation and domain routing.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BFBF3-473F-4C0C-A2F1-E77D98B3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619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A1646-CDEA-462F-83E1-062C905C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F9DB0-9940-4608-A4C0-FBD2FDDE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335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Desktop applications, smart-home nodes, robot car, wheelchair and media controls.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A1939-7C0F-4DDE-8FE5-6E1BD115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3619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D13C4-BD03-43B9-8A89-44D29D3C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9570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OPERATING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470EB-7DAE-44A4-9B96-798C1BE5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24300"/>
            <a:ext cx="335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493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Manual-only use works locally. Hardware, broker and headset services are connected only when needed.</a:t>
            </a:r>
          </a:p>
        </p:txBody>
      </p:sp>
    </p:spTree>
    <p:extLst>
      <p:ext uri="{BB962C8B-B14F-4D97-AF65-F5344CB8AC3E}">
        <p14:creationId xmlns:p14="http://schemas.microsoft.com/office/powerpoint/2010/main" val="1846140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FFCE3D-17A4-4683-A35A-574F0E19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2F899-5409-47A9-96E0-05864001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01F54-8915-4FB4-ABD7-7A05931E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57D63-EDEC-4321-837B-5B1CA2A4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4BA23-623F-48D4-909B-2B7D0FDE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4AE74-5C01-4923-B120-5A52B521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27274-53C8-4E2D-93D5-BFE50EC4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70B5E-5406-453F-B295-7728E987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1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The project has evolved from a single IoT prototype into a modular control hub.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B759C-0FB3-4292-932F-1264CCF0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7BDA0-6B82-4F59-88BF-15144E3E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2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B2A21"/>
                </a:solidFill>
                <a:latin typeface="Arial"/>
                <a:ea typeface="Arial"/>
                <a:cs typeface="Arial"/>
              </a:rPr>
              <a:t>IoT prototype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F57EA-01E6-41B6-AF60-6AD3E642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4287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75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ESP32 relay actions, sensor telemetry and MQTT command delivery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4083B-3626-4CEE-A255-383985B8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57375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A44D3-229E-459F-9559-5D7ABDFE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336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A299A-4494-4F7D-B767-2FD17B4B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B2A21"/>
                </a:solidFill>
                <a:latin typeface="Arial"/>
                <a:ea typeface="Arial"/>
                <a:cs typeface="Arial"/>
              </a:rPr>
              <a:t>Unified 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6CBD5-D345-45DA-A6CF-998AD7C4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3360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231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JSON mappings, validation, FSM modes and reusable domain handlers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1663F-7F46-4C14-A975-870FAC6A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62225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ACE09-8C00-43C2-A0F8-178E5B86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384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923AC-65BC-4F13-9DB5-6D8AD853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38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B2A21"/>
                </a:solidFill>
                <a:latin typeface="Arial"/>
                <a:ea typeface="Arial"/>
                <a:cs typeface="Arial"/>
              </a:rPr>
              <a:t>Desktop and media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A91AAD-B28B-460C-A1CC-CBD8D145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384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2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Chrome, YouTube, Notepad, Gmail and JioSaavn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099CE7-B47C-47FA-BC88-CC764B04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67075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23205-F04E-4331-8155-5D59E287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43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00612-025E-4519-B7C9-D29701C3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43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B2A21"/>
                </a:solidFill>
                <a:latin typeface="Arial"/>
                <a:ea typeface="Arial"/>
                <a:cs typeface="Arial"/>
              </a:rPr>
              <a:t>Mobility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22112-4778-4CEC-85F7-1676527B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4330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59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Robot car and wheelchair commands through configurable MQTT topics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72BF38-48D7-47B7-989B-2B169BF1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71925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D65A0C-C5BB-4735-B047-9900263C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481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998BA5-D2DF-4A0E-8EFE-34D6A65E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48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B2A21"/>
                </a:solidFill>
                <a:latin typeface="Arial"/>
                <a:ea typeface="Arial"/>
                <a:cs typeface="Arial"/>
              </a:rPr>
              <a:t>BCI integration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79A081-C936-4AD8-9566-D0630B11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481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5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Cortex authentication, profile loading, live mental stream and temporal framing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8F6ED0-7F8C-45E4-AF73-3FC35B97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76775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C78616-D4F3-455A-99E1-305D7C8A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3CAD9-1825-4A54-B1A1-AC5AAD92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B2A21"/>
                </a:solidFill>
                <a:latin typeface="Arial"/>
                <a:ea typeface="Arial"/>
                <a:cs typeface="Arial"/>
              </a:rPr>
              <a:t>Operational dashboard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D9B629-9CA7-435C-B6CC-0B724D4E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5300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76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Live status, metrics, activity records, device setup and telemetry export</a:t>
            </a:r>
          </a:p>
        </p:txBody>
      </p:sp>
    </p:spTree>
    <p:extLst>
      <p:ext uri="{BB962C8B-B14F-4D97-AF65-F5344CB8AC3E}">
        <p14:creationId xmlns:p14="http://schemas.microsoft.com/office/powerpoint/2010/main" val="9624295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04C66-20C6-4ED2-AC4C-5EFBB3AE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A6AEA-6736-4E9E-8CC5-C2F262C0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A986A-EFB1-4269-B114-4FA86A49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8F97F-BA46-4D17-8A08-787D8D1F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5B86B-339A-4936-A55E-58485717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3AB7E-D62C-4B59-8C1A-694FC991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0485C-BA1B-4E87-A3A2-BE0E7B5A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01946f91346ab"/>
          <a:stretch xmlns:a="http://schemas.openxmlformats.org/drawingml/2006/main"/>
        </p:blipFill>
        <p:spPr>
          <a:xfrm xmlns:a="http://schemas.openxmlformats.org/drawingml/2006/main">
            <a:off x="762000" y="1140845"/>
            <a:ext cx="7620000" cy="438581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4E183-1E57-4463-893D-F58B7606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9120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635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Inputs enter one stateful routing core, then dispatch through domain-specific handlers and transport services.</a:t>
            </a:r>
          </a:p>
        </p:txBody>
      </p:sp>
    </p:spTree>
    <p:extLst>
      <p:ext uri="{BB962C8B-B14F-4D97-AF65-F5344CB8AC3E}">
        <p14:creationId xmlns:p14="http://schemas.microsoft.com/office/powerpoint/2010/main" val="423551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E7FB79-584C-43CA-8510-BAB3865B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30913-DC00-4557-932B-C185D487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COMMAND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43887-89BB-4837-BEDA-9EE46D85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83DF9-4CB9-4BAF-8AC5-6CB22759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CB36A-65CA-495E-90F9-C350947B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6B9B2-41EF-4C30-BC25-63BC1383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C6B88-F64E-47A1-B2CA-480CF9A4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C2CAE-0E94-4E8A-86CE-1B60CA32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09750"/>
            <a:ext cx="1000125" cy="1428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09304-2919-4C2F-8B18-0242E0C8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B2E7C-55D7-4762-B7B8-FA17A4F6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4C43E-32F5-4F77-8D74-FD0D0F8F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098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3BFF6-F50F-4A39-AC1B-092531D2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81300"/>
            <a:ext cx="80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823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Manual, API or Cortex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665C3-5339-4AD7-82B1-49476D3A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09750"/>
            <a:ext cx="1000125" cy="1428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F5956-4CA1-4F6F-879B-BC44685C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952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8F7F5-791D-46B8-AE18-15D232C2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71C0C-A90A-4916-B51D-4DFEE069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81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4C142-2217-4248-9872-1970AC12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81300"/>
            <a:ext cx="80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81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Gesture and command vocabulary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1B382-E134-4C60-A1E8-43AD87BE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09750"/>
            <a:ext cx="1000125" cy="1428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F627C-F02C-4DC8-8A46-C7CA0646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C002F-A9CA-4483-A1E0-CB4C87BC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448C4-A767-42B7-8204-0BB77DCB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098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184F06-E554-4D27-8E9D-7DD27CFC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81300"/>
            <a:ext cx="80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81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Single or paired gesture window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19B07B-A159-4BC3-A848-17746254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09750"/>
            <a:ext cx="1000125" cy="1428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F4D21-0397-47F6-B7FC-E06317ED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952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A377BC-980F-455F-BA5B-1391D1B3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E0B15-D7F9-43CF-AF8E-385F68DA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098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Resolve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86096E-2169-4806-B5B8-3CB76F61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81300"/>
            <a:ext cx="80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81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Mode-specific command mapping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868FD3-58CB-4F9A-87AC-7E7A690A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809750"/>
            <a:ext cx="1000125" cy="1428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DB9382-ABA7-4C5E-A68F-49734657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52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479793-D252-4A48-88F4-9D0522CF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6230F2-493E-45A0-8F12-4758929A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098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1F61DD-753F-4CA3-B639-CC7D21F9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81300"/>
            <a:ext cx="80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81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Allowed command and required inputs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830808-9978-4312-89E8-A65AEBC3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1000125" cy="1428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3C2408-1889-491A-A321-74A37904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52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A590A0-821E-4F68-8896-94689EB9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D54A95-C0D9-44EB-9833-9ED4AB56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98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Dispatch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50C9C6-80D5-4AAA-8E25-ED217B2D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80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81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Desktop, MQTT, USB or media handler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BD5690-6372-4302-B72A-1317365E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809750"/>
            <a:ext cx="1000125" cy="1428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DF3DA7-B7A9-4373-9697-4B4AC403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52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13E905-3A02-4746-8232-391381C1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3F6DFB-B022-4AB2-AAB1-AD3541FC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098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F548B7-90BB-4020-B8A7-0ED1B94D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781300"/>
            <a:ext cx="80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81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Result, latency and activity record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09115C-5F90-4F73-B146-33869C7F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733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Mode state changes the meaning of the same gesture. Push selects Desktop at the main menu, then selects a desktop application, then triggers an application command.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9D605D-2F6E-48AB-878F-41433CAD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647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260343-D1EA-4ADD-9369-370994AC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24450"/>
            <a:ext cx="621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TEMPORAL BEHAVIOR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1FD19D-4DB2-461D-B9BC-E0CC184C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621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39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Dashboard actions show a countdown and support Cancel or Execute Now. Live BCI keeps the original deadline even when a second gesture arrives.</a:t>
            </a:r>
          </a:p>
        </p:txBody>
      </p:sp>
    </p:spTree>
    <p:extLst>
      <p:ext uri="{BB962C8B-B14F-4D97-AF65-F5344CB8AC3E}">
        <p14:creationId xmlns:p14="http://schemas.microsoft.com/office/powerpoint/2010/main" val="413438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8E0C79-5F35-49A9-8E05-49E728EC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26AC8-54A3-4CAC-96B9-A5250259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FOUR CONTROL DOMAINS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3C84A-CC85-45FD-998F-392CFDDE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84250-8D94-4C98-838F-63EA5F7B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DBF28-73F6-4D3C-B1E5-7D856607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D2DD7-1F24-4CBF-95FA-DE05D537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383FF-DA3D-432D-A55A-9BA90AB9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3A572-D4F0-4357-AB04-D6616C5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3476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E8893-BDDB-49F2-A411-87473CF7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6002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63A5F-E0D4-4A8B-8995-E4D22459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819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60DD7-4260-47B7-BBCD-472E43C7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PYTHON / DESKTOP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53722-8F25-436E-BC2A-FC9631C0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309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94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Chrome, YouTube, Notepad and Gmail workflows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E3E3B-F016-4B71-9FEF-A108E6E0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428750"/>
            <a:ext cx="3476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77D2B-A79E-46D2-A779-1053CA04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6002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1AC4D-CCDB-4209-BB16-EE2E6C35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71625"/>
            <a:ext cx="819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59F34-96F0-40A4-B566-F648E85C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47875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EMBEDDED MOBILITY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056CB-0932-4A47-9232-3E4235B7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28875"/>
            <a:ext cx="309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1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Robot car and wheelchair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1F49B-730C-4273-9C50-B4C71305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3476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77EF8-B25A-4A93-AB96-D31819F2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6957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6E5B9-29D6-4F14-AA81-B88BD83F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819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A86421-7923-4C8F-937F-58CF24D5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IoT SMART HOME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69CDD-EB78-4D69-9873-E42E2B0F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09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Light, fan and pump 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8E5ED-35D3-4957-9B09-C50D6010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24250"/>
            <a:ext cx="3476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B28D8-836A-4E3F-832E-7D00CE51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6957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RIGHT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4DBB98-8762-46FC-9460-24620FBC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67125"/>
            <a:ext cx="819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A8DE7-93F1-4372-BA5A-879B31A0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43375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AI/ML &amp; MEDIA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56F02A-C3C2-4E6E-8CD6-DAA1481A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24375"/>
            <a:ext cx="309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048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JioSaavn playback and audio control</a:t>
            </a:r>
          </a:p>
        </p:txBody>
      </p:sp>
    </p:spTree>
    <p:extLst>
      <p:ext uri="{BB962C8B-B14F-4D97-AF65-F5344CB8AC3E}">
        <p14:creationId xmlns:p14="http://schemas.microsoft.com/office/powerpoint/2010/main" val="16109895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AD9ED-7E07-4916-A059-97390820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C0747-1938-4178-8D76-2517C5E8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 DOMAIN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75C6E-69FB-42C4-BED6-B7521589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04791-CE09-4320-A791-E5B04BEF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83818-B421-425A-99CF-C992B653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97F04-A5B0-495A-A050-AE8EF670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B7FF8-8659-4C1B-A48D-1EEA4291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E68F4-A727-42F6-A9F9-30FB6CD3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3810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82EC5-C25A-4725-B40C-DAEE5FFC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71575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DESKTOP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E5383-DA72-4EDF-9E54-EFB4848A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0175"/>
            <a:ext cx="35433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718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Application-specific handlers open and control Chrome, YouTube, Notepad and Gmail. Local Host runs on the MasterHub PC. Remote targets require a compatible agent.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01B7B-F66D-4AF4-A000-3095D41D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95375"/>
            <a:ext cx="3810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17446-0751-4791-A203-4E5AC795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171575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IOT AND MOBILITY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8BAE6-BDAF-4400-B75C-1739DA31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00175"/>
            <a:ext cx="35433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MQTT publishes smart-home payloads and configurable robot or wheelchair commands. Status and acknowledgements provide separate readiness signals.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DF818-49CF-4746-969A-697EAF1F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810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F69EE-767A-4F96-B14F-83EC4699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MEDIA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821C4-F0FF-4F54-B0DD-958A8F40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81425"/>
            <a:ext cx="3543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Desktop and mobile JioSaavn paths expose playback, search and audio controls. The mobile path reports phone presence and now-playing state.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59A28-3079-4100-A493-289BAD19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3810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80066-714C-4560-8B0D-4E3070F7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52825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MAPPINGS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34692-D5CD-499D-A422-3A595B7F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81425"/>
            <a:ext cx="3543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JSON files define modes, gestures, workflows and command routes. This keeps navigation and action vocabulary separate from transport code.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ABA15-1F74-44E7-A3C6-C3193E4B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150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Current startup report: 17 modes · 98 command routes · 23 IoT action payloads</a:t>
            </a:r>
          </a:p>
        </p:txBody>
      </p:sp>
    </p:spTree>
    <p:extLst>
      <p:ext uri="{BB962C8B-B14F-4D97-AF65-F5344CB8AC3E}">
        <p14:creationId xmlns:p14="http://schemas.microsoft.com/office/powerpoint/2010/main" val="16205555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07CEE-124B-4412-8B94-2902871C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55CD0-5C16-42E4-ACE8-B3711C6D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EMOTIV CORTEX BCI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4BBD1-80DB-4733-9861-2A86F907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AE465-8824-4AC5-9F51-F596C548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AB524-DE22-4E3F-B960-346248EF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B1D86-7B87-4F4D-81C3-948AC33C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23290-3904-4AE0-A86B-4F69374E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88d04e9d746ab"/>
          <a:srcRect xmlns:a="http://schemas.openxmlformats.org/drawingml/2006/main" l="17514" t="0" r="175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971550"/>
            <a:ext cx="4095750" cy="4333875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00B4E-2B79-40A6-AEED-FB8F609A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90625"/>
            <a:ext cx="3143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323"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Local WebSocket connection to the Cortex service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Credential storage, access authorization and session creation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Headset discovery and trained profile loading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Live com stream with action and detector power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Monitor mode before explicit control enablement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Neutral rearm and duplicate suppression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Single or paired gestures resolved in the current FSM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D45E4-7ADA-46C4-8396-76FFEDEF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Default minimum detector power: 0.20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86932-FF29-4BAA-B397-D14F3DCB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Default temporal window: 4 seconds</a:t>
            </a:r>
          </a:p>
        </p:txBody>
      </p:sp>
    </p:spTree>
    <p:extLst>
      <p:ext uri="{BB962C8B-B14F-4D97-AF65-F5344CB8AC3E}">
        <p14:creationId xmlns:p14="http://schemas.microsoft.com/office/powerpoint/2010/main" val="20688970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DD282-7FC1-42ED-8840-CBA94814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A94D3-2545-4A84-A09B-F0A2AF7D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BCI TEMPORAL FRAMING AND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6E636-3CEF-4490-A77B-2C6E2E7D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B8FD2-ABCD-458F-BA68-00304539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0AE82-D998-4268-BF2D-0B0EBFBF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CF016-1C92-48CE-8312-DDF9934E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44FE2-E327-4F29-862B-ADDAB3D7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1b04459164efa"/>
          <a:stretch xmlns:a="http://schemas.openxmlformats.org/drawingml/2006/main"/>
        </p:blipFill>
        <p:spPr>
          <a:xfrm xmlns:a="http://schemas.openxmlformats.org/drawingml/2006/main">
            <a:off x="1821656" y="1066800"/>
            <a:ext cx="5500688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63B70-C7B4-460C-9130-95DA5576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619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51EE5-9160-48F1-A006-D1118FE9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FRAME 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32522-547F-4CDE-A9EE-00AC0A40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335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 qualifying active mental command starts one timing window. Repeated packets of the held gesture do not create repeated commands.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E4992-0EAE-41B2-A040-90731893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3619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E458F-A886-48C5-AEC3-FFAB93ED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52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RESOLUTION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DA662-CF29-4D23-A136-E86EDCD4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81550"/>
            <a:ext cx="335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 mapped second gesture can form a pair. Live BCI waits until the original deadline, then validates the current direction before motion dispatch.</a:t>
            </a:r>
          </a:p>
        </p:txBody>
      </p:sp>
    </p:spTree>
    <p:extLst>
      <p:ext uri="{BB962C8B-B14F-4D97-AF65-F5344CB8AC3E}">
        <p14:creationId xmlns:p14="http://schemas.microsoft.com/office/powerpoint/2010/main" val="14732501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07E7BE-8B47-4AAF-8FC9-7A56EAD9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80168-584F-468A-9444-E4366C61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HARDWARE AND CONNECTIVITY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22B7B-E4BA-417D-80BB-0B198AFE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9EBA3-F412-4241-BCDB-AD959E8A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DF812-554E-4F6F-B86E-BF69CCAC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8B978-4E72-40AC-B151-84EF59DB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BF04C-DA04-40A7-9E66-8BB9BAA7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F8530-9214-4E7F-AD30-7D3C427D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3714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41DCE-94FD-4798-A526-8C9D7A82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71575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MQTT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EA4C4-4B93-4972-A0A4-66B64893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0175"/>
            <a:ext cx="3448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Broker host and port can come from the environment or saved hardware settings. IoT and mobility topics remain independently configurable.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59C38-FC6F-4262-B234-C9B8DB06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95375"/>
            <a:ext cx="3714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531E8-D65A-44C1-9737-B94C1B32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171575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USB SERIAL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96A46-EAAC-4F01-93B2-4E83434C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00175"/>
            <a:ext cx="3448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06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UART configuration discovers ports and uses a JSON-line envelope. The default baud rate is 115200 when pyserial is installed.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EB796-41BA-4685-9AAA-D3595A08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714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71404-AC90-44B9-8595-ABFDD04F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REMOTE PC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AF48B-B916-44AA-8676-D19073F4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3448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The dashboard registers target IDs and transports, but each remote computer still requires its compatible agent and heartbeat.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91156-D694-4D9E-86E2-584D843B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3714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45C2E-474A-4F3B-A456-6D1B0FCA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CORTEX BRIDGE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B9588-E01C-4B97-B316-0DCF8D7B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57550"/>
            <a:ext cx="3448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0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EMOTIV Launcher and the local Cortex service provide headset access, authorization, profile data and the live command stream.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A479DE-AD1C-4F53-9AA3-1D0B2D66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5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Connection state is separated from device readiness. Broker online, device heartbeat and command acknowledgement are different signals.</a:t>
            </a:r>
          </a:p>
        </p:txBody>
      </p:sp>
    </p:spTree>
    <p:extLst>
      <p:ext uri="{BB962C8B-B14F-4D97-AF65-F5344CB8AC3E}">
        <p14:creationId xmlns:p14="http://schemas.microsoft.com/office/powerpoint/2010/main" val="8857820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EB78E-B3E1-44CD-874C-D2E3A0F5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B7434-97DA-4325-BAB8-2ED60032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MASTERHUB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B84F5-8CC0-430E-B8E8-3C740B3B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67726-9555-4EE2-B196-3AAC46B3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42993-3A3E-4D7D-A184-BEB897F4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E7993-DF76-4679-8922-9572A3C5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2B212-4A5D-4568-9897-20D82B63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288d603c74440"/>
          <a:stretch xmlns:a="http://schemas.openxmlformats.org/drawingml/2006/main"/>
        </p:blipFill>
        <p:spPr>
          <a:xfrm xmlns:a="http://schemas.openxmlformats.org/drawingml/2006/main">
            <a:off x="1897000" y="838200"/>
            <a:ext cx="5350000" cy="5095875"/>
          </a:xfrm>
          <a:prstGeom xmlns:a="http://schemas.openxmlformats.org/drawingml/2006/main" prst="roundRect">
            <a:avLst>
              <a:gd name="adj" fmla="val 149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04509-A82C-4201-9AC8-040F09E9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9294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Live console showing connection state, latency placeholders, BCI status, temporal observer, four domains, activity records and telemetry export.</a:t>
            </a:r>
          </a:p>
        </p:txBody>
      </p:sp>
    </p:spTree>
    <p:extLst>
      <p:ext uri="{BB962C8B-B14F-4D97-AF65-F5344CB8AC3E}">
        <p14:creationId xmlns:p14="http://schemas.microsoft.com/office/powerpoint/2010/main" val="12946827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3C7BB3-7A35-4882-845D-BF173D94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9C0E0-FCA9-4C97-8BA7-4DEF85AF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 CONTROLS AND OBSERVABILITY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E4D3F-1825-4FF4-997F-12CFE905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C523B-21F1-4B9B-9EE5-7AACE5C5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9A60F-0BE4-4EAD-89C2-C1A0636B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ED2CA-92CE-444C-89A5-302BB8D8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6C755-F136-4543-8097-56392D46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758B6-625A-4896-9797-407B8DB4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001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Connection matrix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0A15B-CA8B-490C-915A-4FDD00CB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049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7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MQTT, USB, BCI and system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2C8B5-83D7-437E-8E3F-1C411AF6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9DFCF-EE71-4DE0-8A73-F1CA1CA9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0001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Latency HUD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76A3E-B602-41C0-9381-41AA145D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3049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Response, processing, execution and recovery indicators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46707-0227-4EBA-9B96-5CC735DB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669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B0FD2-79F3-4E46-B4EF-F20FB551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574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Temporal observer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479D3-2771-41EB-996B-405FFDCF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62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Current phase, countdown, target and input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845E3-0F7C-4705-80AE-A3E704E8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242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DDD42-0F48-41CB-9439-28AD7953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574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Workflow navigation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8520E-564D-449F-8CCF-3B74E09C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62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Domain, device and command phases with back and main-menu gestures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24044-2DBE-4538-B88A-9839E0DD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242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EAFD2-D7C1-49D0-908F-5E859A9F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147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Activity 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8EB49B-6F8B-4E14-8EF8-CCFB8A6F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95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Command outcomes and operator-visible feedback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F487F1-1AD6-4FEA-83A4-411F2724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ED51A-ED81-4D3D-9CBB-6F413E30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147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Telemetry export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8602D6-A319-47DF-B9E5-263BC5B1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195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481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Log, JSON and CSV output for analysis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6381F4-CD8E-44A8-B272-82893D19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815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56AFF-B086-47A1-ACC1-4A2A996D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Hardware setup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740963-12E9-4811-A4BA-363C25A4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768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Broker settings, UART configuration and target registration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425E27-D690-45F9-9CCB-25E2E0A8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A03A0E-02F9-492D-ACEF-F342472C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7720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Safety controls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E9E696-5128-4DEE-AC5E-3A659836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0768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Monitor mode, cancel, Execute Now, FSM reset and E-Stop request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CA7F7-FFA1-4BDA-812F-B7979CD1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638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</p:spTree>
    <p:extLst>
      <p:ext uri="{BB962C8B-B14F-4D97-AF65-F5344CB8AC3E}">
        <p14:creationId xmlns:p14="http://schemas.microsoft.com/office/powerpoint/2010/main" val="15301988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17031-73BA-4245-8759-D0D47099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3CF44-9712-4644-8052-8DBD9F26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SAFETY, VALIDATION AND FAULT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9301D-C06C-4248-BE28-FA0AA79C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ABE6B-332E-49E3-BC20-060E3714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4615C-201D-4849-9F52-3E8079A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69210-3356-43C1-AB9D-1B3C616B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43654-DA06-4E07-8FC6-F3CAF8F6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B46B9-3D39-41C9-B818-E2D6B097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43000"/>
            <a:ext cx="4476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577"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Command validator rejects unknown routes before handler execution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Mode-aware mappings prevent gestures from bypassing workflow context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BCI starts in monitor mode and requires control enablement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Pending dashboard commands can be cancelled before dispatch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Software E-Stop sends stop requests and clears pending work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Motion dispatch checks the current active direction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Activity and BCI logs record outcomes for diagnosis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Hardware still requires an independent physical stop and watchdog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FFB6E-170E-4E37-ADC9-011A0A01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F522E-9F82-4E84-96E7-8D7C4C2C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5049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IMPORTANT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4E7FB-FA2C-4366-8209-7CE64771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33550"/>
            <a:ext cx="2209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Simulation Mode changes dashboard state and logging. It does not guarantee that hardware actions are isolated.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D4738-8785-41D7-BD08-0A47489A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2476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32159-9216-4DC5-ABAB-80F12F5B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099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PHYSICAL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BCD5F-9E5E-4A29-AE3C-8D14703A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38550"/>
            <a:ext cx="2209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26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 successful HTTP or MQTT response does not prove that an actuator stopped. Device acknowledgements and independent safety hardware remain necessary.</a:t>
            </a:r>
          </a:p>
        </p:txBody>
      </p:sp>
    </p:spTree>
    <p:extLst>
      <p:ext uri="{BB962C8B-B14F-4D97-AF65-F5344CB8AC3E}">
        <p14:creationId xmlns:p14="http://schemas.microsoft.com/office/powerpoint/2010/main" val="17152944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54970C-903A-4ED6-97F7-C96F69F8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F820C-D4E8-48CF-99F1-6175F236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SOFTWARE IMPLEMENTATION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6326C-7A3A-4944-93AE-F7868B2D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74F4E-514B-466C-A8F5-B339BB71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D1AD6-96DE-43E2-BE86-7599CB80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E412F-184C-4A5B-9F97-2EE3B75D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4A1F4-3160-4F7E-8CC5-EF6F8690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AF123-F112-4678-AE2D-9E43E38B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001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core/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FBE37-F510-4E07-B3E1-8DDC0724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0012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Input processor, engine, router, state and 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8FD3D-51BA-488F-A62D-148CDFC4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478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A7FC9-7C46-436C-B114-4EDA0980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2877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actions/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66EB3-5675-4533-B4B3-4E2F354A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2877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Desktop, IoT, embedded and media handlers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E8CBD-856C-4ADB-B4A0-85EDE3DC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764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D4B01-E35C-480C-8FD5-90C8D9EA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cortex/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EA440-F36F-4734-BC41-5613B650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5742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Authentication, session, profile, stream and BCI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972BC-AF6B-4691-A327-E1C6E0E7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051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CEFEA-F4DA-4973-9A8D-17B8921B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8607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services/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5BE6F-9A70-4BD9-A5C4-84DF8DA4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8607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44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MQTT, USB, logging, validation, workflow and hardware settings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6316A-AE5D-4FAF-9BBF-FBE4D3F0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D0728-A075-4362-B1A7-693515D9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147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mappings/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28150-E815-40AB-9161-FEF29061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1472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Command, gesture, mode and workflow JSON definitions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5D2CF-E9A5-4715-972E-029DE9C4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624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766143-BDE1-4AFA-867D-7358F2F1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337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21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templates/ + static/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3B07F-9511-4651-AC5A-8F1AF978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Dashboard UI, BCI drawer, scripts and styles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5F570F-A17E-4747-8788-C36E25D2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910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AE797D-F2D3-418C-BCD1-698E2457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720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simulator/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2F927-114E-4349-9947-23D4DB59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7202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Recorded-prediction replay and filtering tools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C78876-1FD7-4927-86B0-EC3A952D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197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6B686C-E9E6-4076-8D1A-3737022A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0067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tests/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E48DA-DDF3-44AA-9C64-645F2FB8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0067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BCI, workflow, mappings, hardware and logging tests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97B4FD-8BB0-40B4-9F42-6BA18E08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483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</p:spTree>
    <p:extLst>
      <p:ext uri="{BB962C8B-B14F-4D97-AF65-F5344CB8AC3E}">
        <p14:creationId xmlns:p14="http://schemas.microsoft.com/office/powerpoint/2010/main" val="7576125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49A40-2FE7-41EA-9368-4EA42446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AA1A7-F0CE-4334-B01B-DE9F3D43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VERIFICATION AND TEST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317F0-0169-478B-9D8C-5EDB3283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826AF-CE8F-46DC-A46D-0C2213E8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C670D-7876-484E-83AE-EB08D1FF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7365E-E3C3-4A78-B872-0D883D5D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637C6-2999-4EC5-ADAC-C7A1B88A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63387-8361-411D-939A-87D4B036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3714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8DF73-B19E-4922-B949-B4573133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71575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BCI CONTROLLER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8CC5B-1F79-48C3-BC91-3A407364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0175"/>
            <a:ext cx="34480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Temporal window behavior, gesture pairs, neutral handling, retry paths and motion stability.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CF0FB-6127-47A6-87B3-703C4BCE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95375"/>
            <a:ext cx="3714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BEA99-D493-433A-8337-A18BEA07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171575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WORKFLOW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3B6E6-DFD3-449D-BB95-A6A925F7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00175"/>
            <a:ext cx="34480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State transitions, mappings, command updates, embedded routes and dashboard behavior.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B321A-3FFE-40F2-9AAC-97C8B63F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714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51C7C-0087-4BE8-937A-9D79EB88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SERVICE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A0900-F7CA-4DB6-96E5-B8A53A5F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4480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Hardware status, logging, media integration and manual-versus-BCI command records.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F3E63-5A36-45CC-9A4C-AF5269AF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3714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ABE64-C2AD-428E-8D33-E3B34965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24200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REPLAY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91CEC-C690-4673-AF3E-3BB5F5D1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52800"/>
            <a:ext cx="34480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Recorded predictions can exercise HTTP command paths, while focused controller tests verify live BCI framing.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7A655-9A21-4F6F-B183-566AD9CE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14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Verification must distinguish software dispatch from physical execution. Hardware tests require isolated devices, acknowledgements and safe movement constraints.</a:t>
            </a:r>
          </a:p>
        </p:txBody>
      </p:sp>
    </p:spTree>
    <p:extLst>
      <p:ext uri="{BB962C8B-B14F-4D97-AF65-F5344CB8AC3E}">
        <p14:creationId xmlns:p14="http://schemas.microsoft.com/office/powerpoint/2010/main" val="16146083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2FC17-5CAD-4726-BAA3-1697AE23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A9F5E-8B3E-484A-B6C0-56BA9CC4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ACHIEVED OUTPUTS AND CURRENT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45A15-A6D7-4739-A067-82790DEF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DCE7C-6F88-4DB4-8482-03BCD8BE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08D65-9AC4-4069-B0BB-E53E59E9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37862-8D72-411A-A456-D9E65ED3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F355B-566D-4A78-A12A-9E9A6BE9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FEE19-0C72-401A-8CBD-E5B82AC0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3714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689C7-B181-44BD-AFAD-BEF73708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19200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ACHIEVED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B646F-5558-4367-9F08-04BC0410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47800"/>
            <a:ext cx="3448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Unified dashboard and API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Four routed control domains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Live Cortex mental-command path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Temporal single and paired gestures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MQTT, serial and remote-target setup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Activity logs and telemetry export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8628B-16F7-4DE8-9512-4387D275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0"/>
            <a:ext cx="3619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1B441-8F3A-4D29-B43F-1CC13E67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1920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CURRENT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0655B-11F1-48F1-A97B-291A5E23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47800"/>
            <a:ext cx="33528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921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External broker and firmware remain required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Remote target registration does not install an agent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Simulation Mode is not an execution sandbox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Cortex depends on trained profiles and vendor access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Physical E-Stop and watchdog remain external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Some actions depend on an unlocked Windows desktop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13A52-DCE2-49D7-9865-863B1C01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02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The current implementation provides a working orchestration layer. Deployment readiness depends on the connected hardware, credentials and safety system.</a:t>
            </a:r>
          </a:p>
        </p:txBody>
      </p:sp>
    </p:spTree>
    <p:extLst>
      <p:ext uri="{BB962C8B-B14F-4D97-AF65-F5344CB8AC3E}">
        <p14:creationId xmlns:p14="http://schemas.microsoft.com/office/powerpoint/2010/main" val="10460972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D75F0-5443-4190-82A9-2DFF3931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95EF6-D827-48EF-82CA-E76FB964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 AND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962A2-2793-4BF3-93D0-BE8D0DA1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C2E2F-3257-45FF-B050-3C323604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74AEE-4348-4962-930B-B642582E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22B66-A3CB-44B7-B855-5F84397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EE7DE-711C-4F92-A777-D8933B0E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7BFF7-E69A-4880-9269-6C0DED9A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4000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2B012-05EE-433A-9840-850A68C3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266825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C09B9-2966-45EF-890F-469DB0FD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495425"/>
            <a:ext cx="3733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MasterHub now combines the original IoT work with desktop automation, embedded mobility, media control and EMOTIV BCI. A single stateful workflow translates multiple input sources into validated domain 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D8843-1436-4E5A-A434-D44AB9AD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90625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AC51D-B650-4135-B925-C19F2808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266825"/>
            <a:ext cx="3209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56E21-0EAA-47D1-AC97-DDD5273B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495425"/>
            <a:ext cx="32099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06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Add device-side watchdogs and signed acknowledgements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Package and document the remote PC agent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Create a true dry-run execution backend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Calibrate BCI thresholds per user and profile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Add automated end-to-end hardware test rigs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Improve deployment packaging and secret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9F2F0-C795-4189-BB2A-35AAD263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The project has moved from hardware control experiments to a reusable human-to-device orchestration platform.</a:t>
            </a:r>
          </a:p>
        </p:txBody>
      </p:sp>
    </p:spTree>
    <p:extLst>
      <p:ext uri="{BB962C8B-B14F-4D97-AF65-F5344CB8AC3E}">
        <p14:creationId xmlns:p14="http://schemas.microsoft.com/office/powerpoint/2010/main" val="3265122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7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3BBA2-629B-486A-89BA-15A2D799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3914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AB549-0D20-49D7-83F3-93A6CB74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09800"/>
            <a:ext cx="695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A2F0E-0AE5-421A-A757-787EE03A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812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EDE95-CACF-489A-AFA7-FB2CABC8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860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D3C58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D3C58B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35369-D416-4228-966B-11E9055A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38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MASTERHUB IMPLEMENTATION REVIEW</a:t>
            </a:r>
          </a:p>
        </p:txBody>
      </p:sp>
    </p:spTree>
    <p:extLst>
      <p:ext uri="{BB962C8B-B14F-4D97-AF65-F5344CB8AC3E}">
        <p14:creationId xmlns:p14="http://schemas.microsoft.com/office/powerpoint/2010/main" val="1613448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2026-09-26T04:33:26.7170000Z</dcterms:created>
  <dcterms:modified xsi:type="dcterms:W3CDTF">2026-09-26T04:33:26.7170000Z</dcterms:modified>
</coreProperties>
</file>