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8de1cde6b7445f" /><Relationship Type="http://schemas.openxmlformats.org/officeDocument/2006/relationships/extended-properties" Target="/docProps/app.xml" Id="R873a4351453d46ca" /><Relationship Type="http://schemas.openxmlformats.org/officeDocument/2006/relationships/officeDocument" Target="/ppt/presentation.xml" Id="R234ca99a61124a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1b86b597aa4eaa"/>
  </p:sldMasterIdLst>
  <p:notesMasterIdLst>
    <p:notesMasterId xmlns:r="http://schemas.openxmlformats.org/officeDocument/2006/relationships" r:id="R60b799eec0c547d4"/>
  </p:notesMasterIdLst>
  <p:sldIdLst>
    <p:sldId xmlns:r="http://schemas.openxmlformats.org/officeDocument/2006/relationships" id="256" r:id="R83e758c03c14401f"/>
    <p:sldId xmlns:r="http://schemas.openxmlformats.org/officeDocument/2006/relationships" id="257" r:id="R7ab72dd240694a4c"/>
    <p:sldId xmlns:r="http://schemas.openxmlformats.org/officeDocument/2006/relationships" id="258" r:id="Rcebaf76e54114473"/>
    <p:sldId xmlns:r="http://schemas.openxmlformats.org/officeDocument/2006/relationships" id="259" r:id="R13d8f3d768b54fa0"/>
    <p:sldId xmlns:r="http://schemas.openxmlformats.org/officeDocument/2006/relationships" id="260" r:id="R8a6763b822254633"/>
    <p:sldId xmlns:r="http://schemas.openxmlformats.org/officeDocument/2006/relationships" id="261" r:id="Rcfdfc844f02647d2"/>
    <p:sldId xmlns:r="http://schemas.openxmlformats.org/officeDocument/2006/relationships" id="262" r:id="Re0bd69ce9b914e6f"/>
    <p:sldId xmlns:r="http://schemas.openxmlformats.org/officeDocument/2006/relationships" id="263" r:id="R21eccc4658b94d88"/>
    <p:sldId xmlns:r="http://schemas.openxmlformats.org/officeDocument/2006/relationships" id="264" r:id="R1912c68b7dfe4e2a"/>
    <p:sldId xmlns:r="http://schemas.openxmlformats.org/officeDocument/2006/relationships" id="265" r:id="Rabc3f9e9ba914972"/>
    <p:sldId xmlns:r="http://schemas.openxmlformats.org/officeDocument/2006/relationships" id="266" r:id="R73a974cb967b4a89"/>
    <p:sldId xmlns:r="http://schemas.openxmlformats.org/officeDocument/2006/relationships" id="267" r:id="Re5034fae99e34a38"/>
    <p:sldId xmlns:r="http://schemas.openxmlformats.org/officeDocument/2006/relationships" id="268" r:id="R59819c96376441fa"/>
    <p:sldId xmlns:r="http://schemas.openxmlformats.org/officeDocument/2006/relationships" id="269" r:id="R277d065b777d44c4"/>
    <p:sldId xmlns:r="http://schemas.openxmlformats.org/officeDocument/2006/relationships" id="270" r:id="R0c88b010bbfd418b"/>
    <p:sldId xmlns:r="http://schemas.openxmlformats.org/officeDocument/2006/relationships" id="271" r:id="R528c45b38ba14cab"/>
    <p:sldId xmlns:r="http://schemas.openxmlformats.org/officeDocument/2006/relationships" id="272" r:id="Re21c4c10a304478c"/>
    <p:sldId xmlns:r="http://schemas.openxmlformats.org/officeDocument/2006/relationships" id="273" r:id="R6de433fb9f9a4d4f"/>
    <p:sldId xmlns:r="http://schemas.openxmlformats.org/officeDocument/2006/relationships" id="274" r:id="Rf6591dd1b7034b90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593aeebe2148b1" /><Relationship Type="http://schemas.openxmlformats.org/officeDocument/2006/relationships/slideMaster" Target="/ppt/slideMasters/slideMaster1.xml" Id="R631b86b597aa4eaa" /><Relationship Type="http://schemas.openxmlformats.org/officeDocument/2006/relationships/notesMaster" Target="/ppt/notesMasters/notesMaster1.xml" Id="R60b799eec0c547d4" /><Relationship Type="http://schemas.openxmlformats.org/officeDocument/2006/relationships/presProps" Target="/ppt/presProps.xml" Id="R73f896cc68fe49a1" /><Relationship Type="http://schemas.openxmlformats.org/officeDocument/2006/relationships/tableStyles" Target="/ppt/tableStyles.xml" Id="R9f708e5a3a2e4052" /><Relationship Type="http://schemas.openxmlformats.org/officeDocument/2006/relationships/slide" Target="/ppt/slides/slide1.xml" Id="R83e758c03c14401f" /><Relationship Type="http://schemas.openxmlformats.org/officeDocument/2006/relationships/slide" Target="/ppt/slides/slide2.xml" Id="R7ab72dd240694a4c" /><Relationship Type="http://schemas.openxmlformats.org/officeDocument/2006/relationships/slide" Target="/ppt/slides/slide3.xml" Id="Rcebaf76e54114473" /><Relationship Type="http://schemas.openxmlformats.org/officeDocument/2006/relationships/slide" Target="/ppt/slides/slide4.xml" Id="R13d8f3d768b54fa0" /><Relationship Type="http://schemas.openxmlformats.org/officeDocument/2006/relationships/slide" Target="/ppt/slides/slide5.xml" Id="R8a6763b822254633" /><Relationship Type="http://schemas.openxmlformats.org/officeDocument/2006/relationships/slide" Target="/ppt/slides/slide6.xml" Id="Rcfdfc844f02647d2" /><Relationship Type="http://schemas.openxmlformats.org/officeDocument/2006/relationships/slide" Target="/ppt/slides/slide7.xml" Id="Re0bd69ce9b914e6f" /><Relationship Type="http://schemas.openxmlformats.org/officeDocument/2006/relationships/slide" Target="/ppt/slides/slide8.xml" Id="R21eccc4658b94d88" /><Relationship Type="http://schemas.openxmlformats.org/officeDocument/2006/relationships/slide" Target="/ppt/slides/slide9.xml" Id="R1912c68b7dfe4e2a" /><Relationship Type="http://schemas.openxmlformats.org/officeDocument/2006/relationships/slide" Target="/ppt/slides/slide10.xml" Id="Rabc3f9e9ba914972" /><Relationship Type="http://schemas.openxmlformats.org/officeDocument/2006/relationships/slide" Target="/ppt/slides/slide11.xml" Id="R73a974cb967b4a89" /><Relationship Type="http://schemas.openxmlformats.org/officeDocument/2006/relationships/slide" Target="/ppt/slides/slide12.xml" Id="Re5034fae99e34a38" /><Relationship Type="http://schemas.openxmlformats.org/officeDocument/2006/relationships/slide" Target="/ppt/slides/slide13.xml" Id="R59819c96376441fa" /><Relationship Type="http://schemas.openxmlformats.org/officeDocument/2006/relationships/slide" Target="/ppt/slides/slide14.xml" Id="R277d065b777d44c4" /><Relationship Type="http://schemas.openxmlformats.org/officeDocument/2006/relationships/slide" Target="/ppt/slides/slide15.xml" Id="R0c88b010bbfd418b" /><Relationship Type="http://schemas.openxmlformats.org/officeDocument/2006/relationships/slide" Target="/ppt/slides/slide16.xml" Id="R528c45b38ba14cab" /><Relationship Type="http://schemas.openxmlformats.org/officeDocument/2006/relationships/slide" Target="/ppt/slides/slide17.xml" Id="Re21c4c10a304478c" /><Relationship Type="http://schemas.openxmlformats.org/officeDocument/2006/relationships/slide" Target="/ppt/slides/slide18.xml" Id="R6de433fb9f9a4d4f" /><Relationship Type="http://schemas.openxmlformats.org/officeDocument/2006/relationships/slide" Target="/ppt/slides/slide19.xml" Id="Rf6591dd1b7034b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6af7f026f64f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3938f9876f48f3" /><Relationship Type="http://schemas.openxmlformats.org/officeDocument/2006/relationships/notesMaster" Target="/ppt/notesMasters/notesMaster1.xml" Id="Rb255175420b447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d9402289184a4a" /><Relationship Type="http://schemas.openxmlformats.org/officeDocument/2006/relationships/notesMaster" Target="/ppt/notesMasters/notesMaster1.xml" Id="R74dfa4b3595647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0df6a3a08a497d" /><Relationship Type="http://schemas.openxmlformats.org/officeDocument/2006/relationships/notesMaster" Target="/ppt/notesMasters/notesMaster1.xml" Id="R830efbb77c5a4b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33848ef56040f6" /><Relationship Type="http://schemas.openxmlformats.org/officeDocument/2006/relationships/notesMaster" Target="/ppt/notesMasters/notesMaster1.xml" Id="R095350ca4c3749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36264085aa4a90" /><Relationship Type="http://schemas.openxmlformats.org/officeDocument/2006/relationships/notesMaster" Target="/ppt/notesMasters/notesMaster1.xml" Id="R20b2902f34ff44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3079ca797641f1" /><Relationship Type="http://schemas.openxmlformats.org/officeDocument/2006/relationships/notesMaster" Target="/ppt/notesMasters/notesMaster1.xml" Id="Rde6b2826c3ed43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f0e7e3591247f4" /><Relationship Type="http://schemas.openxmlformats.org/officeDocument/2006/relationships/notesMaster" Target="/ppt/notesMasters/notesMaster1.xml" Id="R899303425e6b44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b66617c5734bc4" /><Relationship Type="http://schemas.openxmlformats.org/officeDocument/2006/relationships/notesMaster" Target="/ppt/notesMasters/notesMaster1.xml" Id="Rdc6499886bcf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f9f94ee2794605" /><Relationship Type="http://schemas.openxmlformats.org/officeDocument/2006/relationships/notesMaster" Target="/ppt/notesMasters/notesMaster1.xml" Id="R6f30a7e1bd234e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d558b02a0d475c" /><Relationship Type="http://schemas.openxmlformats.org/officeDocument/2006/relationships/notesMaster" Target="/ppt/notesMasters/notesMaster1.xml" Id="R7bb39f10525e4a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eb89a33fb949d7" /><Relationship Type="http://schemas.openxmlformats.org/officeDocument/2006/relationships/notesMaster" Target="/ppt/notesMasters/notesMaster1.xml" Id="R8aaf3415e09b47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b734ff7a2d47ed" /><Relationship Type="http://schemas.openxmlformats.org/officeDocument/2006/relationships/notesMaster" Target="/ppt/notesMasters/notesMaster1.xml" Id="Rbe75822e582348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4df153499346f1" /><Relationship Type="http://schemas.openxmlformats.org/officeDocument/2006/relationships/notesMaster" Target="/ppt/notesMasters/notesMaster1.xml" Id="R07dd61e21e7a4b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cc216acb4446ac" /><Relationship Type="http://schemas.openxmlformats.org/officeDocument/2006/relationships/notesMaster" Target="/ppt/notesMasters/notesMaster1.xml" Id="R1734acca1a6b48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7dab942efe4efb" /><Relationship Type="http://schemas.openxmlformats.org/officeDocument/2006/relationships/notesMaster" Target="/ppt/notesMasters/notesMaster1.xml" Id="R6f99f1dfb8eb4e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5e0729e3674060" /><Relationship Type="http://schemas.openxmlformats.org/officeDocument/2006/relationships/notesMaster" Target="/ppt/notesMasters/notesMaster1.xml" Id="Rd83bf5a082d34d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82875380574caf" /><Relationship Type="http://schemas.openxmlformats.org/officeDocument/2006/relationships/notesMaster" Target="/ppt/notesMasters/notesMaster1.xml" Id="R489c71268f5248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47b6ffc8164d85" /><Relationship Type="http://schemas.openxmlformats.org/officeDocument/2006/relationships/notesMaster" Target="/ppt/notesMasters/notesMaster1.xml" Id="R2da909223f8449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0e4a43b4724083" /><Relationship Type="http://schemas.openxmlformats.org/officeDocument/2006/relationships/notesMaster" Target="/ppt/notesMasters/notesMaster1.xml" Id="Ra9a6f3c7dd8c4f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style based on the user-supplied noushith_IOT_ppt.pptx. Project facts sourced from the current MasterHub repository and live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Contents reflect the current repository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current project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sequence summarized from repository history reflected in current modules and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source: docs/diagrams/arch_flowchart.png.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core/input_processor.py, core/engine.py, core/router.py, static/masterhub.js and cortex/control.py.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mappings/mode_map.json and dashboard domain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Runtime counts observed when the current Flask application started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cortex/service.py, cortex/control.py, templates/bci_panel.html and live dashboard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cortex/control.py, tests/test_cortex_control.py and docs/diagrams/scenario_sequence.png.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services/mqtt_service.py, services/usb_service.py, services/hardware_config.py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current local application at /dashboard on 26 September 2026. Offline hardware indicators reflect the capture environment, not missing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templates/dashboard.html and static/masterhub.js.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safety notes and current service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repository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tests/ directory and README.md testing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repository and README.md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work is based on gaps documented in the current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77e3caa364c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9f1a866f924290" /><Relationship Type="http://schemas.openxmlformats.org/officeDocument/2006/relationships/slideLayout" Target="/ppt/slideLayouts/slideLayout1.xml" Id="R7fd1f5a2159f41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d1f5a2159f41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a2832df564100" /><Relationship Type="http://schemas.openxmlformats.org/officeDocument/2006/relationships/notesSlide" Target="/ppt/notesSlides/notesSlide1.xml" Id="R05ec98fc86134e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973fec91441c0" /><Relationship Type="http://schemas.openxmlformats.org/officeDocument/2006/relationships/notesSlide" Target="/ppt/notesSlides/notesSlide2.xml" Id="Ra18754f81ab34a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b22640603467c" /><Relationship Type="http://schemas.openxmlformats.org/officeDocument/2006/relationships/notesSlide" Target="/ppt/notesSlides/notesSlide3.xml" Id="R0037b727d92944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bad2872194bb2" /><Relationship Type="http://schemas.openxmlformats.org/officeDocument/2006/relationships/notesSlide" Target="/ppt/notesSlides/notesSlide4.xml" Id="Rd83d3c3d6b3640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7b6379683481b" /><Relationship Type="http://schemas.openxmlformats.org/officeDocument/2006/relationships/image" Target="/ppt/media/image.png" Id="R8ff0d394d85240fe" /><Relationship Type="http://schemas.openxmlformats.org/officeDocument/2006/relationships/notesSlide" Target="/ppt/notesSlides/notesSlide5.xml" Id="R74c103eb51444d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5be8ab3794603" /><Relationship Type="http://schemas.openxmlformats.org/officeDocument/2006/relationships/notesSlide" Target="/ppt/notesSlides/notesSlide6.xml" Id="R7022a95b859d48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5369c9de44284" /><Relationship Type="http://schemas.openxmlformats.org/officeDocument/2006/relationships/notesSlide" Target="/ppt/notesSlides/notesSlide7.xml" Id="R8e1530d2ca6841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bb6e1e5344eaa" /><Relationship Type="http://schemas.openxmlformats.org/officeDocument/2006/relationships/notesSlide" Target="/ppt/notesSlides/notesSlide8.xml" Id="Rc186002ffcde47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43afe7d1e4107" /><Relationship Type="http://schemas.openxmlformats.org/officeDocument/2006/relationships/image" Target="/ppt/media/image2.png" Id="R6b0cf0cfaa9f4c79" /><Relationship Type="http://schemas.openxmlformats.org/officeDocument/2006/relationships/notesSlide" Target="/ppt/notesSlides/notesSlide9.xml" Id="R0afdd119097140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17f9282b64917" /><Relationship Type="http://schemas.openxmlformats.org/officeDocument/2006/relationships/image" Target="/ppt/media/image3.png" Id="R3982b7e54a6445ce" /><Relationship Type="http://schemas.openxmlformats.org/officeDocument/2006/relationships/notesSlide" Target="/ppt/notesSlides/notesSlide10.xml" Id="R7b10c8f62a1544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578ce55f84000" /><Relationship Type="http://schemas.openxmlformats.org/officeDocument/2006/relationships/notesSlide" Target="/ppt/notesSlides/notesSlide11.xml" Id="R950ea4c5dcde49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742eda07a4476" /><Relationship Type="http://schemas.openxmlformats.org/officeDocument/2006/relationships/image" Target="/ppt/media/image4.png" Id="Ra7338084f753411e" /><Relationship Type="http://schemas.openxmlformats.org/officeDocument/2006/relationships/notesSlide" Target="/ppt/notesSlides/notesSlide12.xml" Id="R4612b1d2ff8d4e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ff10822d14a91" /><Relationship Type="http://schemas.openxmlformats.org/officeDocument/2006/relationships/notesSlide" Target="/ppt/notesSlides/notesSlide13.xml" Id="R80690444dfc94e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ba6ef2db2469d" /><Relationship Type="http://schemas.openxmlformats.org/officeDocument/2006/relationships/notesSlide" Target="/ppt/notesSlides/notesSlide14.xml" Id="R8721e35c741a46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2027f411949a3" /><Relationship Type="http://schemas.openxmlformats.org/officeDocument/2006/relationships/notesSlide" Target="/ppt/notesSlides/notesSlide15.xml" Id="R59aace3bc8024f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43da7c2f847b8" /><Relationship Type="http://schemas.openxmlformats.org/officeDocument/2006/relationships/notesSlide" Target="/ppt/notesSlides/notesSlide16.xml" Id="Rc544ca30044c46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832806b8e4398" /><Relationship Type="http://schemas.openxmlformats.org/officeDocument/2006/relationships/notesSlide" Target="/ppt/notesSlides/notesSlide17.xml" Id="R5562fdacad0d4f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ee1adc7864098" /><Relationship Type="http://schemas.openxmlformats.org/officeDocument/2006/relationships/notesSlide" Target="/ppt/notesSlides/notesSlide18.xml" Id="Re18e2076fdd142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915a39d00426b" /><Relationship Type="http://schemas.openxmlformats.org/officeDocument/2006/relationships/notesSlide" Target="/ppt/notesSlides/notesSlide19.xml" Id="R743a81d02af248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7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88418-85A1-4BBD-9FFF-FB3ED888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9C6A2-821E-4BB8-AED3-92BEEA4B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7962900" cy="56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105EA-584D-4FC6-BD08-EC21F43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08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HYDERABAD INSTITUTE OF TECHNOLOGY</a:t>
            </a:r>
          </a:p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E24ED-C3F2-481A-B9ED-3CA84DE4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8592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3C58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3C58B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9BC65-5EEB-4ACE-B2E8-76278B77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431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BCI, IoT, Desktop and Mobility Control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1B9B5-90F5-437A-A8AD-6B579C1C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F0381-4954-46FE-ACD6-3C9848A0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04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system architecture, dashboard and completed 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00E92-8B23-45CD-A6FE-E16C9260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81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NOUSHITH  |  2451A051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D07FD-1ACD-46D2-BC7F-78EE6DFB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435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status deck · September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A0BBC-08CD-4E79-8D6F-3B99174F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905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</p:spTree>
    <p:extLst>
      <p:ext uri="{BB962C8B-B14F-4D97-AF65-F5344CB8AC3E}">
        <p14:creationId xmlns:p14="http://schemas.microsoft.com/office/powerpoint/2010/main" val="968831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F70DA-CFE1-488E-BC3E-99F9D1A0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556C4-DD13-473E-93B2-0BFD892E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 OF CONTENTS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84EAF-9904-40F8-93F9-C2765F89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CC082-1B70-45E4-815A-5D4F8B1B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95FFF-62E2-4979-9013-108C325F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14AF8-41CE-4CE3-966A-A4478B10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76457-5891-4DA9-9872-26E871C5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93099-EB55-44D6-A807-7730EA86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666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Project scope and implementation status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MasterHub architecture and command lifecycle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Four control domains and supported targets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EMOTIV Cortex BCI workflow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MQTT, USB and remote-agent connectivity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Current dashboard and observability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Safety controls, validation and testing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Current limitations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749218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6DAFC-87D0-4EB3-9FFE-9AC81163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2B66D-BBDA-4F85-A644-AD662CA8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MASTERHUB 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CBA69-ED92-4D81-A96F-91C7F18E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ADA43-698A-4011-B82B-B6A90893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73065-91BC-4D61-BF6A-7666B606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86E0F-49D0-422A-BB0D-771DAD86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268A1-13DE-4837-A760-3D14A95A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BB494-3396-46D8-AF00-5AD41762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4875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A single control layer translates manual input or EMOTIV mental commands into actions across software and physical devices.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404A0-156C-4A5C-9B74-5AAA1322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619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24211-AAD5-4A2D-8804-9E30B5B9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BCFD3-2353-4D4C-A8B9-BB214E74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335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93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Dashboard controls, arrow keys, HTTP requests, recorded predictions and live Cortex mental-command samples.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CB2EE-FCE5-4894-8B9F-202F5712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619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FC4C8-DFD0-401A-8B45-42B25584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CONTROL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A865C-83D8-4625-A4A1-84FF8BFF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14550"/>
            <a:ext cx="335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44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Input normalization, mode state, temporal framing, command validation and domain routing.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12122-8834-4BA1-B56D-23D6A8C5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619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A5B48-CBE8-48FA-A637-3055CE07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A75D1-853F-4523-9E20-145CB22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335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Desktop applications, smart-home nodes, robot car, wheelchair and media controls.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BD5D2-916E-4D08-9515-9F2680A3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3619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9CFFF-20F8-45DA-8759-8331F6CD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957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OPERATING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E2A436-DE09-4D35-881C-EE662DED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24300"/>
            <a:ext cx="335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493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Manual-only use works locally. Hardware, broker and headset services are connected only when needed.</a:t>
            </a:r>
          </a:p>
        </p:txBody>
      </p:sp>
    </p:spTree>
    <p:extLst>
      <p:ext uri="{BB962C8B-B14F-4D97-AF65-F5344CB8AC3E}">
        <p14:creationId xmlns:p14="http://schemas.microsoft.com/office/powerpoint/2010/main" val="1109393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DC1CD3-1CEF-409E-A42F-4C9C96F4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376C5-E559-46DA-A6FC-9942879C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D985C-8CC3-4681-9DDC-8E7AB7B6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58678-39D5-4700-8DF2-E3D9288D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BC635-94B3-452F-8B84-32D3D65E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B5ABD-4001-41A6-A90F-CC227AB9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D3747-69B7-4F9C-82AF-A20B7E43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76D6B-1923-47F6-976D-2360ABDB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1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The project has evolved from a single IoT prototype into a modular control hub.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1A511-4C14-4E37-8E08-72EAFB99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0B3B2-BF34-4CC6-88C1-189B9CAA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28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IoT 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04336-889E-461E-99BF-C70FD5AB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4287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75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ESP32 relay actions, sensor telemetry and MQTT command 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892CB-5191-464E-AD02-2A83A4F3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5737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403D0-1854-47DB-90E6-91C58FE8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336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CA141-C78D-4035-B3AD-A57F533B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33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Unified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64C26-BA23-4F84-9D5E-A848769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336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231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JSON mappings, validation, FSM modes and reusable domain handlers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80281-F795-4642-99D8-C092DFBF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6222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44916-EBD9-40F7-B000-5C476731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384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EC8C4-D67B-4668-AD7A-C3E8C324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38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Desktop and media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CF6B4-1C3E-44A0-8272-6EA4D59F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384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2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Chrome, YouTube, Notepad, Gmail and JioSaavn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BA669-D65F-48E5-AB46-F7203BE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6707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CA1E8-141C-4264-B7C0-3FA0B6F9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43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A0F24-2D09-4445-928D-ADA0F085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43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Mobility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FD10B-02A8-4C62-8A69-BB27D5A5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433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59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Robot car and wheelchair commands through configurable MQTT topics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15358-5787-428A-B4EA-7554FCD5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7192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D9D17-F362-4EC1-B50D-A74629E5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481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89EDD9-17A4-4CA0-9E78-DD6E9A3F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48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BCI integration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29B45-F820-48C1-B709-F995FAFF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481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Cortex authentication, profile loading, live mental stream and temporal framing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B168D-4C81-4ABC-8321-59F3C36F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7677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F05A3-9ABE-46B0-AA1E-49B6BCEE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E14A7-5C5F-4A45-8FF3-88408034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B2A21"/>
                </a:solidFill>
                <a:latin typeface="Arial"/>
                <a:ea typeface="Arial"/>
                <a:cs typeface="Arial"/>
              </a:rPr>
              <a:t>Operational 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B267B3-E182-4939-9F68-F9A69C43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530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76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Live status, metrics, activity records, device setup and telemetry export</a:t>
            </a:r>
          </a:p>
        </p:txBody>
      </p:sp>
    </p:spTree>
    <p:extLst>
      <p:ext uri="{BB962C8B-B14F-4D97-AF65-F5344CB8AC3E}">
        <p14:creationId xmlns:p14="http://schemas.microsoft.com/office/powerpoint/2010/main" val="1728802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1A735-F9FD-4CF8-A7FA-1E2FA39D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9E933-B102-46B3-8AF0-CA8E8A7A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17EF3-30A9-43CB-B31E-E6B6B523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1B09F-3C3A-4DD4-A466-D1241E40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E8057-9504-4A8F-BEC0-FD0C27A7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DD8F8-9D16-4F9A-9FA3-78F08740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9E209-8386-4C5E-BC8E-BB59F196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0d394d85240fe"/>
          <a:stretch xmlns:a="http://schemas.openxmlformats.org/drawingml/2006/main"/>
        </p:blipFill>
        <p:spPr>
          <a:xfrm xmlns:a="http://schemas.openxmlformats.org/drawingml/2006/main">
            <a:off x="762000" y="1140845"/>
            <a:ext cx="7620000" cy="438581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6F291-02C6-4F8F-B2B6-5BA1DB77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635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Inputs enter one stateful routing core, then dispatch through domain-specific handlers and transport services.</a:t>
            </a:r>
          </a:p>
        </p:txBody>
      </p:sp>
    </p:spTree>
    <p:extLst>
      <p:ext uri="{BB962C8B-B14F-4D97-AF65-F5344CB8AC3E}">
        <p14:creationId xmlns:p14="http://schemas.microsoft.com/office/powerpoint/2010/main" val="1082752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E20A65-0A44-4128-99B4-D4666905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971A5-BE5D-49DE-96B0-72764430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COMMAND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7DDB9-A883-42C1-AB9A-1AE90608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B3718-91D7-4DB4-A19D-30EB73FF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C5FEB-3875-4ECB-83D8-83F6E106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F92FC-4069-4411-ACE1-C6630218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61FD6-6433-4A88-8C08-C568385A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926EA-39E3-4B87-9618-8D4A01D2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4615D-ADB2-428F-A65F-30541771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5D309-2595-4278-B0DE-2D0D310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72BD0-5D56-498B-A683-301B1545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33CB9-4A7F-4438-8514-CB259330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823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Manual, API or Cortex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EF89E-B8E9-42DA-B29A-A0497EE9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1AC58-9C42-445E-9475-A24AF281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E95CA-7BDF-4AD5-A4AD-85D90B7C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A8476-29B7-4C9D-9A13-51E3DCB4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81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EC7FC-A500-45C7-9ADB-9883E3A1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Gesture and command vocabulary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DA680-B3F5-4303-A5DD-18C35AA7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41BE4-C120-4270-9CD0-6CD82DA9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B526A-75E9-42C8-A3F2-10450C96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5D40E-ADF2-4590-B5B6-CB3D009C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26A24-DE29-4AD8-93C0-F1CB7C68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Single or paired gesture window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BFE69-0DBF-42DE-A5B6-08BB49A2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93085-BC41-4F53-B921-D6DA64FA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1D815-F59C-49A3-9053-35122C0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BA0AE-5A77-4998-A469-C0829E7E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Resolve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DF5E3-A4A0-4CAA-9B15-FCFEB2D0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Mode-specific command mapping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FD0894-66DD-4AF2-BE48-9268D066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480F9D-6DCB-4B31-8431-1EF0CFC8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B2384E-E326-4A56-811C-C5A1B81D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A929AB-978A-4032-9050-DBF2674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ED427C-CC66-4865-A9BE-CFD456F9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Allowed command and required inputs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A04206-82C4-4557-8E04-B5D4035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FEED8D-83FF-4398-8DAA-25CDDDEA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E736FA-6BBF-4C7A-9AB8-C1F6ADDA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C05AC9-5A83-411F-AAB5-3F92E42C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Dispatch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54F52A-AD37-4F06-A6BA-52B40034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Desktop, MQTT, USB or media handler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962171-AC9F-4730-A261-95EAF64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809750"/>
            <a:ext cx="1000125" cy="1428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BBD53B-0DCA-4E11-BBA0-FD509C33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43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419A17-1411-46AD-B5BB-ECBE3573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5A0203-AFFC-49D2-AAE7-F9BDE26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09825"/>
            <a:ext cx="847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301E36-B4B7-4D02-BB07-959C9BC8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781300"/>
            <a:ext cx="80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9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Result, latency and activity record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F6AFC8-A797-463A-B4D6-9DE34E78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733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Mode state changes the meaning of the same gesture. Push selects Desktop at the main menu, then selects a desktop application, then triggers an application command.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C675C9-DEE6-40D2-8210-A361ED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647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9E939D-73AF-4341-A2CB-04FE7D0B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24450"/>
            <a:ext cx="621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TEMPORAL BEHAVIOR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11C60E-03FB-462A-9484-34A19BFE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621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139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Dashboard actions show a countdown and support Cancel or Execute Now. Live BCI keeps the original deadline even when a second gesture arrives.</a:t>
            </a:r>
          </a:p>
        </p:txBody>
      </p:sp>
    </p:spTree>
    <p:extLst>
      <p:ext uri="{BB962C8B-B14F-4D97-AF65-F5344CB8AC3E}">
        <p14:creationId xmlns:p14="http://schemas.microsoft.com/office/powerpoint/2010/main" val="620088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4C16A5-C5D2-43C4-995A-D1730355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77F5B-1797-4F7F-80E6-9F602CCE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CONTROL DOMAINS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A3A6B-85A4-4BB7-A6A8-EE987A40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27EC-F835-4FD2-9353-938CE7D0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BEEAE-E446-4780-A10D-CDD6E47A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44DA2-63BD-48CB-A52E-08F61A20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BD120-3C11-47FE-B206-BC39C52F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CA8EA-4E41-4BE2-BB78-3BC29EEF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3476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D421B-DCC7-4B7A-A5F5-F333A76F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002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EAAF3-E7F8-4B39-823B-BC3256B2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819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53A4F-E361-4F6D-AB7C-3E098DA9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PYTHON / DESKTOP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833F5-CCD5-4797-A87D-26F77C38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94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Chrome, YouTube, Notepad and Gmail 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B42C8-C2F3-4155-BD08-47B2B4CE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428750"/>
            <a:ext cx="3476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FDE7A7-8C46-478C-90AE-04676DDD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6002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267E1-3539-4E62-A316-0126BAD6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71625"/>
            <a:ext cx="819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CFD3E-765E-41DE-9E61-63F63133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478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EMBEDDED MOBILITY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EA3FA-66CC-4B27-885A-D2EA0CA6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2887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1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Robot car and wheelchair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9D190-6551-4257-9D31-68E3CEF6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3476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01F50-1459-4AB8-9797-8410AB84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95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CF873-0BED-430B-9C92-FD49E652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819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020E7-42A8-499E-B9D0-6AD9576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IoT SMART HOME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E5B21-D0D2-4BA4-89E3-6DF6AE9B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Light, fan and pump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C0794-7E11-4C43-8969-662E5B45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3476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BAF814-74EE-462D-8C10-8EE46AA5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695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RIGHT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E5CDF-C189-4C7A-9430-5834FC07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67125"/>
            <a:ext cx="8191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B5ED84-A361-4A95-9904-485723B8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43375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AI/ML &amp; MEDIA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9E92F-D159-49FF-8FF6-21134BE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24375"/>
            <a:ext cx="309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048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JioSaavn playback and audio control</a:t>
            </a:r>
          </a:p>
        </p:txBody>
      </p:sp>
    </p:spTree>
    <p:extLst>
      <p:ext uri="{BB962C8B-B14F-4D97-AF65-F5344CB8AC3E}">
        <p14:creationId xmlns:p14="http://schemas.microsoft.com/office/powerpoint/2010/main" val="788255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1104B-9CE3-4F06-A12D-23A13752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011E6-19DA-4548-B1B1-B0979DE7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 DOMAIN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12981-5077-457B-9162-96145668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ECE45-366A-4053-9665-6472CED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55A13-8ACF-4AAD-832C-EBE53F8B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3FDDE-4E09-4997-8C8A-0DA82183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BC758-3E3C-4333-9168-A48EA815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2B04E-AE03-4260-968D-832A383C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3810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336DA-73EB-4781-933A-2E495F36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7157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BAC30-1D46-458E-ADAE-004B01C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0175"/>
            <a:ext cx="35433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18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Application-specific handlers open and control Chrome, YouTube, Notepad and Gmail. Local Host runs on the MasterHub PC. Remote targets require a compatible agent.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2046F-D8C2-4132-93F8-343BB24F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95375"/>
            <a:ext cx="3810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EF872-3606-43B0-8BD6-0640591B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17157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IOT AND MOBILITY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67B05-CEEA-414D-BF5A-817A9D8A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00175"/>
            <a:ext cx="35433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MQTT publishes smart-home payloads and configurable robot or wheelchair commands. Status and acknowledgements provide separate readiness signals.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03EE3-C08F-4B65-88E4-94CFFA41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810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5B727-752C-481E-9404-C999D807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MEDIA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A4615-5BCD-4EDD-8399-C09276E3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81425"/>
            <a:ext cx="3543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Desktop and mobile JioSaavn paths expose playback, search and audio controls. The mobile path reports phone presence and now-playing state.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BC8D0-D584-4EC3-A9ED-7F738C2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3810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05A49-BA19-47EC-84E7-453F0C58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5282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MAPPINGS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6189B-2622-487E-B3B0-9A8C9914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81425"/>
            <a:ext cx="3543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JSON files define modes, gestures, workflows and command routes. This keeps navigation and action vocabulary separate from transport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5B368-3B95-4032-8C40-FB01A85B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150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Current startup report: 17 modes · 98 command routes · 23 IoT action payloads</a:t>
            </a:r>
          </a:p>
        </p:txBody>
      </p:sp>
    </p:spTree>
    <p:extLst>
      <p:ext uri="{BB962C8B-B14F-4D97-AF65-F5344CB8AC3E}">
        <p14:creationId xmlns:p14="http://schemas.microsoft.com/office/powerpoint/2010/main" val="1885214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C745A-84A6-4F97-8072-BD759927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1AC32-DE26-4734-87EC-5CB6C437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EMOTIV CORTEX BCI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ADD7F-6A74-4F62-B212-E164159D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7D620-FB73-4ABC-8C41-B1E00B27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6E9FC-8FF0-4467-A5CA-22361766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C1F7D-5D68-4FB2-8CD9-5D097D6A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BEC37-9D75-4B82-91FB-40FF107E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cf0cfaa9f4c79"/>
          <a:srcRect xmlns:a="http://schemas.openxmlformats.org/drawingml/2006/main" l="17514" t="0" r="175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971550"/>
            <a:ext cx="4095750" cy="4333875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A3FEC-437B-49C9-9243-18504406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90625"/>
            <a:ext cx="3143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323"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Local WebSocket connection to the Cortex service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Credential storage, access authorization and session creation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Headset discovery and trained profile loading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Live com stream with action and detector power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Monitor mode before explicit control enablement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Neutral rearm and duplicate suppression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Single or paired gestures resolved in the current FSM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2DAC3-27F4-442F-B9EB-45EA3F68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Default minimum detector power: 0.20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150EC-8134-4E3F-BC1D-41263FBA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Default temporal window: 4 seconds</a:t>
            </a:r>
          </a:p>
        </p:txBody>
      </p:sp>
    </p:spTree>
    <p:extLst>
      <p:ext uri="{BB962C8B-B14F-4D97-AF65-F5344CB8AC3E}">
        <p14:creationId xmlns:p14="http://schemas.microsoft.com/office/powerpoint/2010/main" val="7569584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E329A-1F40-413A-BA7C-12407C28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3D014-7A06-4110-9544-2CB2897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BCI TEMPORAL FRAMING AND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C9268-9015-4C95-A828-423A0213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36DF6-916D-4A00-BDA8-37C1CFBC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F608F-69E4-4E15-966F-F1391A96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29084-7463-46ED-958C-AFC59388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6ED10-8EDA-4116-9A17-E0335B55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2b7e54a6445ce"/>
          <a:stretch xmlns:a="http://schemas.openxmlformats.org/drawingml/2006/main"/>
        </p:blipFill>
        <p:spPr>
          <a:xfrm xmlns:a="http://schemas.openxmlformats.org/drawingml/2006/main">
            <a:off x="1821656" y="1066800"/>
            <a:ext cx="5500688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50A94-136A-4AE5-97AF-4F749FB6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619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2792E-2D9A-4907-9B0A-CDFCA79B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FRAME 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80CB2-A752-43E0-B59F-9BD44E5E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335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 qualifying active mental command starts one timing window. Repeated packets of the held gesture do not create repeated commands.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956C5-4018-47F9-9405-014361A7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3619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56342-A8A9-4674-95B8-C9F02855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1257D-3B56-4472-BDE0-D2A220E5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81550"/>
            <a:ext cx="335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 mapped second gesture can form a pair. Live BCI waits until the original deadline, then validates the current direction before motion dispatch.</a:t>
            </a:r>
          </a:p>
        </p:txBody>
      </p:sp>
    </p:spTree>
    <p:extLst>
      <p:ext uri="{BB962C8B-B14F-4D97-AF65-F5344CB8AC3E}">
        <p14:creationId xmlns:p14="http://schemas.microsoft.com/office/powerpoint/2010/main" val="12966190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655EC-760A-4452-BCBF-3FC1FD11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30FD8-47FC-4733-9A48-8DC49022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HARDWARE AND CONNECTIVITY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7545F-F41E-4ECF-A233-6B9C7C26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C050B-C223-4548-8CB0-9049A36E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B20BC-5693-475E-B3CB-B79C082C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A46E2-4ECF-491A-8EAE-E05D1372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75C55-4894-4F3A-99B9-167280ED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DA34A-2772-4C85-88D5-352DDBCC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3714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8259C-2243-40E4-8E19-C1B88ABF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71575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MQTT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603E8-134B-4668-92DB-F882E879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0175"/>
            <a:ext cx="3448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Broker host and port can come from the environment or saved hardware settings. IoT and mobility topics remain independently configurable.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CE599-A4BF-4F68-8E8E-A7A1A39D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95375"/>
            <a:ext cx="3714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C6AE3-6512-4D89-8D1A-6FEF74EE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171575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USB SERIAL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2A6EE-132F-4B64-8E2F-44D600A9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00175"/>
            <a:ext cx="3448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06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UART configuration discovers ports and uses a JSON-line envelope. The default baud rate is 115200 when pyserial is installed.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D97CD-63A1-49F7-B9CF-994DDC3C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3714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97AAC-D680-4EF6-88E2-0C8C5E54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REMOTE PC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3D429-0B73-4116-9718-B0983C07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3448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The dashboard registers target IDs and transports, but each remote computer still requires its compatible agent and heartbeat.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13ED7-536E-4894-85B2-D3FBB194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3714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C85C6-FF5F-4FF0-9611-94CF7F07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CORTEX BRIDGE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79626-E78B-4ECC-B0D6-6F73BFEA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57550"/>
            <a:ext cx="34480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0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EMOTIV Launcher and the local Cortex service provide headset access, authorization, profile data and the live command stream.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CCBB3-0B7C-43A7-B16E-BCEE0104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5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Connection state is separated from device readiness. Broker online, device heartbeat and command acknowledgement are different signals.</a:t>
            </a:r>
          </a:p>
        </p:txBody>
      </p:sp>
    </p:spTree>
    <p:extLst>
      <p:ext uri="{BB962C8B-B14F-4D97-AF65-F5344CB8AC3E}">
        <p14:creationId xmlns:p14="http://schemas.microsoft.com/office/powerpoint/2010/main" val="21465912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9B235-59A8-4788-976F-CC441109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C58BF-2D32-4FBB-AFD6-11DDE8E3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MASTERHUB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065BA-4B4F-4B54-B8C2-C8444937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1F095-4571-4677-9EBF-E84EB430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24C1E-41BB-4ABE-BC8F-0055D4B5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958B8-8A27-4EF2-824D-73A4E75E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789C9-E53A-4C11-97B7-320C6378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38084f753411e"/>
          <a:srcRect xmlns:a="http://schemas.openxmlformats.org/drawingml/2006/main" l="0" t="15917" r="0" b="15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838200"/>
            <a:ext cx="7848600" cy="5095875"/>
          </a:xfrm>
          <a:prstGeom xmlns:a="http://schemas.openxmlformats.org/drawingml/2006/main" prst="roundRect">
            <a:avLst>
              <a:gd name="adj" fmla="val 149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6DE37-6EEF-4445-A8D5-41E37BE8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Live console showing connection state, BCI status, temporal observer and the four control domains.</a:t>
            </a:r>
          </a:p>
        </p:txBody>
      </p:sp>
    </p:spTree>
    <p:extLst>
      <p:ext uri="{BB962C8B-B14F-4D97-AF65-F5344CB8AC3E}">
        <p14:creationId xmlns:p14="http://schemas.microsoft.com/office/powerpoint/2010/main" val="7656289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403FA6-8E01-4478-9DAB-6190F36F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9190D-B779-402E-97A9-A296EB29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 CONTROLS AND OBSERVABILITY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9F48A-7E39-42AA-963E-4EF2160A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66819-D1AB-4E13-8175-E98C1F0D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D66F3-AF7F-4609-848C-A7A73B4B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8B37E-8B66-447C-A642-520BDCE6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03206-701F-4397-A119-57812492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96200-7E70-4AB2-917B-D230911E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001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Connection matrix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4D7DE-93C1-4FB3-8037-ED0CB4BC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049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7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MQTT, USB, BCI and system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4E736-06E5-46B0-A67E-7147950D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7755D-611B-447E-AC40-4B497B4E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0001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Latency HUD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23277-4107-4D99-A516-E35BFA39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3049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Response, processing, execution and recovery indicators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1D1BD-6ADD-4705-9156-0F9461E8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669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01FC7-3243-4706-9DEE-59CE4078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574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Temporal observer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4764D-A9D0-4938-ABD3-A5FFD54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62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Current phase, countdown, target and input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427D2-8485-4689-A177-ED0DCD90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7E89A-9564-4626-9E60-9A1C13A2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574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Workflow navigation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18331-A96D-40A8-BED7-3FB332DB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62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Domain, device and command phases with back and main-menu gestures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53B7F-F971-4216-A79A-9111BAE1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242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56447-3E20-4F17-9CC1-741167DA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147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Activity 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5A539-EB0C-44A9-8154-DE0F4DCB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95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Command outcomes and operator-visible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CF79B-1F84-4338-A535-199328F0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6C509-7F3A-4AC3-9295-54B6CE16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147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Telemetry 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7E9F71-58BC-47A7-9D44-1671702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195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481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Log, JSON and CSV output for analysis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CC89A5-4E7C-40A4-BB52-07985308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815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B5AE90-09FA-4C7F-B4E1-C5245F0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Hardware setup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A63F1E-D607-4A6F-A906-86A7C820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76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Broker settings, UART configuration and target registration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46C0C6-5459-46E8-B6E7-2A24B7AB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EDFF8A-3DFD-4076-9B92-08FF5801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720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Safety controls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FD7DC3-5221-431B-9E01-B14A6F13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76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Monitor mode, cancel, Execute Now, FSM reset and E-Stop request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E23AD2-4669-41D8-8100-3469F39C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638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</p:spTree>
    <p:extLst>
      <p:ext uri="{BB962C8B-B14F-4D97-AF65-F5344CB8AC3E}">
        <p14:creationId xmlns:p14="http://schemas.microsoft.com/office/powerpoint/2010/main" val="2126732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3F4C7-E54D-4170-AADF-7B603DAB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14F4E-10D7-4BC3-84F8-367001E4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SAFETY, VALIDATION AND FAULT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BD063-B053-42E8-95D5-E8E8DC77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C20C5-0E71-4022-A205-1B1158CA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55407-02C4-48D7-85A9-94EC217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1008D-CFED-432F-ACDE-CAF04458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A3164-02DB-4422-9E2D-E798956D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41865-A1DC-40B5-AADC-F356AB67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43000"/>
            <a:ext cx="4476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577"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Command validator rejects unknown routes before handler execution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Mode-aware mappings prevent gestures from bypassing workflow context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BCI starts in monitor mode and requires control enablement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Pending dashboard commands can be cancelled before dispatch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Software E-Stop sends stop requests and clears pending work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Motion dispatch checks the current active direction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Activity and BCI logs record outcomes for diagnosis</a:t>
            </a:r>
          </a:p>
          <a:p xmlns:a="http://schemas.openxmlformats.org/drawingml/2006/main">
            <a:pPr marL="203200" indent="-101600">
              <a:spcAft>
                <a:spcPts val="600"/>
              </a:spcAft>
              <a:buChar char="•"/>
              <a:defRPr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B2A21"/>
                </a:solidFill>
                <a:latin typeface="Arial"/>
                <a:ea typeface="Arial"/>
                <a:cs typeface="Arial"/>
              </a:rPr>
              <a:t>Hardware still requires an independent physical stop and watchdog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642E1-74A4-4CE7-8FD4-645B9AD8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0962B-E6B1-488F-8575-2A13258F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049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IMPORTANT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DCA9E-A3F3-486D-82C8-701D648F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2209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Simulation Mode changes dashboard state and logging. It does not guarantee that hardware actions are isolated.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D581E-F403-4484-9C08-C318A073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2476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4851D-A87B-48D7-9D2E-69360FDD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099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PHYSICAL SAFETY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42F87-A15F-4994-BBBF-7CBDFC0C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38550"/>
            <a:ext cx="2209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26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 successful HTTP or MQTT response does not prove that an actuator stopped. Device acknowledgements and independent safety hardware remain necessary.</a:t>
            </a:r>
          </a:p>
        </p:txBody>
      </p:sp>
    </p:spTree>
    <p:extLst>
      <p:ext uri="{BB962C8B-B14F-4D97-AF65-F5344CB8AC3E}">
        <p14:creationId xmlns:p14="http://schemas.microsoft.com/office/powerpoint/2010/main" val="19480832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0B8E85-295E-46F4-BBFC-76200670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E281C-33CE-4119-BAAF-DAA2A609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 IMPLEMENTATION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AAED3-89ED-4D2F-8DDD-7FB1CB80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2C6E0-2393-4E21-933E-31CBFEC8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77327-38FA-4DCB-9313-3BF85D0D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25F6A-E10F-4FB1-9C1B-B2E860C3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605A6-5129-4D76-B2A0-ED26E38C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BE1D1-DA63-430A-9F6A-23DF3C10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001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core/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3611F-48F9-45F8-811F-19215368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0012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Input processor, engine, router, state and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7CD4F-C097-45C3-976B-0BD95D8A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478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DA566-EB43-4E14-B121-3E483F62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287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actions/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6BCEF-CBC8-46EA-8428-80210FC3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2877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Desktop, IoT, embedded and media handlers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CFA70-6703-458C-ACB3-13F9A106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8894F-4AA3-4112-9079-D5BFFAB4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cortex/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586B6-0894-4190-A104-A167DC84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5742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Authentication, session, profile, stream and BCI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C4480-F5D3-4AFC-8060-17236552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051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3A254-0ABF-4032-BE84-E6DD8265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860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services/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1F9F1-9BB5-46E4-B16A-A3F6E084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8607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44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MQTT, USB, logging, validation, workflow and hardware settings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C713C-819C-4BB0-ACEC-4610B37B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803B5-7981-41C9-A0B7-6E65C972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147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mappings/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4CF3A-4654-465A-A086-3E82E996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1472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8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Command, gesture, mode and workflow JSON definitions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70B49-953B-4EA7-9DC1-5F7D40D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624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2B928-B0D7-4067-A530-1A24549D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21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templates/ + static/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CBB93-03F8-4199-91D5-9152D893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Dashboard UI, BCI drawer, scripts and styles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1709D-1564-4450-BF29-B769B0A6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910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A1A752-3691-406B-8E17-7B47497E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720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simulator/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299325-E0EC-418E-9AD0-10892E04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7202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Recorded-prediction replay and filtering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407CB-CEAF-4ED4-B128-84622FDB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197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0CD20-9945-47C1-AD21-32F54C7F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006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tests/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5F3AF-29A2-4DBF-A519-99541842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00675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BCI, workflow, mappings, hardware and logging tests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0A52C2-6679-4626-9434-DC96B3CD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483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3B7"/>
          </a:solidFill>
          <a:ln xmlns:a="http://schemas.openxmlformats.org/drawingml/2006/main" w="11430">
            <a:solidFill>
              <a:srgbClr val="BFD3B7"/>
            </a:solidFill>
          </a:ln>
        </p:spPr>
      </p:sp>
    </p:spTree>
    <p:extLst>
      <p:ext uri="{BB962C8B-B14F-4D97-AF65-F5344CB8AC3E}">
        <p14:creationId xmlns:p14="http://schemas.microsoft.com/office/powerpoint/2010/main" val="9870577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2CDE4-A5F7-40C8-ADC5-772288F9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7BDB3-000C-4433-885E-1DAF3D6D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VERIFICATION AND TEST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24199-C280-45D6-8EB2-87A8DDD9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606E6-B6A2-4F88-9C45-BE74798F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D6A25-0923-4B50-B6A1-38F245A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B2EB5-935C-4723-A795-8AD460A0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C872D-10D7-447E-B7A7-CE5B878E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11313-987A-4C2A-A134-8046417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9EA66-8CBD-4185-A6EC-24E03665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71575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BCI CONTROLLER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03822-216C-44EE-912B-8DE1ECB1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0175"/>
            <a:ext cx="3448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Temporal window behavior, gesture pairs, neutral handling, retry paths and motion stability.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BF5E5-C214-41E8-B1EF-534EA7B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95375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40048-CA96-427A-9D47-BDB3B1A1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171575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WORKFLOW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E1F33-46B8-48CC-9884-8EBE79B4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00175"/>
            <a:ext cx="3448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State transitions, mappings, command updates, embedded routes and dashboard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3D189-A840-4F7E-8D10-7879EFB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C9ECE-A45C-4F77-B9E5-2EB029A8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SERVICE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7B6E6-52AF-4EFD-9C49-0034C98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448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Hardware status, logging, media integration and manual-versus-BCI command records.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A6FB2-C4B7-4100-80B3-6F8D44D8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3714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C924F-4A11-4482-9ADA-CCBB7031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2420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REPLAY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54975-176A-4612-8312-ECC7F967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52800"/>
            <a:ext cx="3448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Recorded predictions can exercise HTTP command paths, while focused controller tests verify live BCI framing.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F04FE-424D-46A3-9323-15431FED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14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Verification must distinguish software dispatch from physical execution. Hardware tests require isolated devices, acknowledgements and safe movement constraints.</a:t>
            </a:r>
          </a:p>
        </p:txBody>
      </p:sp>
    </p:spTree>
    <p:extLst>
      <p:ext uri="{BB962C8B-B14F-4D97-AF65-F5344CB8AC3E}">
        <p14:creationId xmlns:p14="http://schemas.microsoft.com/office/powerpoint/2010/main" val="850316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2E9A3-DE44-4F24-9B11-5E4D355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80A23-9566-46F8-BE7F-9F0EBA10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ACHIEVED OUTPUTS AND CURRENT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FDA16-1CB2-4BB6-9BFF-302F3CE5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1B03F-8913-4AF1-AE98-020A685B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E5539-AA26-4F20-9A25-22A1B353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B6E52-73B3-41DA-8966-086D0958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45CA2-F186-4BE5-BE1C-2A3F85C7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FDE87-7019-480F-9152-02DCBE00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3714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C0EE1-9A97-4098-A6A6-47DDDC7F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1920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ACHIEVED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BAB89-A369-46D9-A6C5-A3854299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3448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Unified dashboard and API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Four routed control domains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Live Cortex mental-command path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Temporal single and paired gestures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MQTT, serial and remote-target setup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Activity logs and telemetry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747CE-7985-4B69-985C-EBF90E02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43000"/>
            <a:ext cx="3619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0172C-B139-4942-83F3-AAD90DA3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2192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E24B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E24B4B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F6C9B-24A9-4B7F-B3AD-133AA543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47800"/>
            <a:ext cx="33528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921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External broker and firmware remain required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Remote target registration does not install an agent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Simulation Mode is not an execution sandbox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Cortex depends on trained profiles and vendor access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Physical E-Stop and watchdog remain external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Some actions depend on an unlocked Windows desktop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DBD73-735A-4907-9A14-67DF9B5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023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The current implementation provides a working orchestration layer. Deployment readiness depends on the connected hardware, credentials and safety system.</a:t>
            </a:r>
          </a:p>
        </p:txBody>
      </p:sp>
    </p:spTree>
    <p:extLst>
      <p:ext uri="{BB962C8B-B14F-4D97-AF65-F5344CB8AC3E}">
        <p14:creationId xmlns:p14="http://schemas.microsoft.com/office/powerpoint/2010/main" val="2260286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19C2D-3BB9-4F0C-A872-752184D0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B3E"/>
          </a:solidFill>
          <a:ln xmlns:a="http://schemas.openxmlformats.org/drawingml/2006/main" w="11430">
            <a:solidFill>
              <a:srgbClr val="0B7B3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15722-D66A-4D20-BFBC-0E02099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90C56-6B42-4E0F-AFF0-230B429C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685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4"/>
          </a:solidFill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E7760-FA8E-4279-9E8D-D9EB456C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14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544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69072-83BD-4E47-B637-CF0FD6B5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905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2222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B7B3E"/>
                </a:solidFill>
                <a:latin typeface="Arial"/>
                <a:ea typeface="Arial"/>
                <a:cs typeface="Arial"/>
              </a:rPr>
              <a:t>MASTERHUB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5AEE1-2505-439E-A1C2-62D94AE8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19125"/>
            <a:ext cx="83820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59CC1-15E3-4B74-AE07-8D2F528B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34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29167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A675D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A675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CCDCC-FA9B-4ECB-ACD3-8619F993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4000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7EDCB-7193-4320-BD72-193342E1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26682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5CD0E-DA7C-4B9A-9A07-EC281536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495425"/>
            <a:ext cx="3733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MasterHub now combines the original IoT work with desktop automation, embedded mobility, media control and EMOTIV BCI. A single stateful workflow translates multiple input sources into validated domain 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ADF0A-5BD0-4FAB-B17C-7EA3B038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90625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9F3"/>
          </a:solidFill>
          <a:ln xmlns:a="http://schemas.openxmlformats.org/drawingml/2006/main" w="11430">
            <a:solidFill>
              <a:srgbClr val="BFD3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C4E5D-6DBA-4F5B-954F-8E1F077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266825"/>
            <a:ext cx="3209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056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5F552-0786-4676-8E04-822004E0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95425"/>
            <a:ext cx="32099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065"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Add device-side watchdogs and signed acknowledgements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Package and document the remote PC agent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Create a true dry-run execution backend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Calibrate BCI thresholds per user and profile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Add automated end-to-end hardware test rigs</a:t>
            </a:r>
          </a:p>
          <a:p xmlns:a="http://schemas.openxmlformats.org/drawingml/2006/main">
            <a:pPr>
              <a:defRPr b="0">
                <a:solidFill>
                  <a:srgbClr val="1B2A2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B2A21"/>
                </a:solidFill>
                <a:latin typeface="Arial"/>
                <a:ea typeface="Arial"/>
                <a:cs typeface="Arial"/>
              </a:rPr>
              <a:t>Improve deployment packaging and secret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770FE-9B1A-4830-9A00-3069F4D1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0B7B3E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B7B3E"/>
                </a:solidFill>
                <a:latin typeface="Arial"/>
                <a:ea typeface="Arial"/>
                <a:cs typeface="Arial"/>
              </a:rPr>
              <a:t>The project has moved from hardware control experiments to a reusable human-to-device orchestration platform.</a:t>
            </a:r>
          </a:p>
        </p:txBody>
      </p:sp>
    </p:spTree>
    <p:extLst>
      <p:ext uri="{BB962C8B-B14F-4D97-AF65-F5344CB8AC3E}">
        <p14:creationId xmlns:p14="http://schemas.microsoft.com/office/powerpoint/2010/main" val="21037633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7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790A6-393E-4075-98E1-73F965E3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3914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A2EA5-AB15-4467-A3DB-FD68118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09800"/>
            <a:ext cx="695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FFF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14216-5B27-4165-AB86-FA1A9750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HITAM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252DC-FF12-4518-8B45-A3352103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860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D3C58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3C58B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F0964-2DE3-4AAC-A3EF-1EEA2DF2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38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MASTERHUB IMPLEMENTATION REVIEW</a:t>
            </a:r>
          </a:p>
        </p:txBody>
      </p:sp>
    </p:spTree>
    <p:extLst>
      <p:ext uri="{BB962C8B-B14F-4D97-AF65-F5344CB8AC3E}">
        <p14:creationId xmlns:p14="http://schemas.microsoft.com/office/powerpoint/2010/main" val="1561634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2026-09-26T04:34:54.7390000Z</dcterms:created>
  <dcterms:modified xsi:type="dcterms:W3CDTF">2026-09-26T04:34:54.7400000Z</dcterms:modified>
</coreProperties>
</file>